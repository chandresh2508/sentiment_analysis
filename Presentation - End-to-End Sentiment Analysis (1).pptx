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E4E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350" b="0" i="0">
                <a:solidFill>
                  <a:srgbClr val="2E4E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E4E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350" b="0" i="0">
                <a:solidFill>
                  <a:srgbClr val="2E4E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E4E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E4E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858125" y="19050"/>
            <a:ext cx="10428605" cy="10267950"/>
          </a:xfrm>
          <a:custGeom>
            <a:avLst/>
            <a:gdLst/>
            <a:ahLst/>
            <a:cxnLst/>
            <a:rect l="l" t="t" r="r" b="b"/>
            <a:pathLst>
              <a:path w="10428605" h="10267950">
                <a:moveTo>
                  <a:pt x="10428385" y="10267949"/>
                </a:moveTo>
                <a:lnTo>
                  <a:pt x="0" y="10267949"/>
                </a:lnTo>
                <a:lnTo>
                  <a:pt x="0" y="0"/>
                </a:lnTo>
                <a:lnTo>
                  <a:pt x="10428385" y="0"/>
                </a:lnTo>
                <a:lnTo>
                  <a:pt x="10428385" y="10267949"/>
                </a:lnTo>
                <a:close/>
              </a:path>
            </a:pathLst>
          </a:custGeom>
          <a:solidFill>
            <a:srgbClr val="2E4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8325" y="2267135"/>
            <a:ext cx="260477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E4E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71229" y="2728777"/>
            <a:ext cx="8847455" cy="2364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350" b="0" i="0">
                <a:solidFill>
                  <a:srgbClr val="2E4E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chandresh2508/Sentiment_Analysis" TargetMode="External"/><Relationship Id="rId3" Type="http://schemas.openxmlformats.org/officeDocument/2006/relationships/image" Target="../media/image16.jpg"/><Relationship Id="rId7" Type="http://schemas.openxmlformats.org/officeDocument/2006/relationships/image" Target="../media/image20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61814" y="285750"/>
            <a:ext cx="7126184" cy="97149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27329" rIns="0" bIns="0" rtlCol="0">
            <a:spAutoFit/>
          </a:bodyPr>
          <a:lstStyle/>
          <a:p>
            <a:pPr marL="1367155" marR="5080" indent="-1355090">
              <a:lnSpc>
                <a:spcPts val="8360"/>
              </a:lnSpc>
              <a:spcBef>
                <a:spcPts val="1789"/>
              </a:spcBef>
            </a:pPr>
            <a:r>
              <a:rPr spc="55" dirty="0"/>
              <a:t>Sentiment</a:t>
            </a:r>
            <a:r>
              <a:rPr spc="-875" dirty="0"/>
              <a:t> </a:t>
            </a:r>
            <a:r>
              <a:rPr spc="-10" dirty="0"/>
              <a:t>Analysis Presentation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66934" y="6636911"/>
            <a:ext cx="9529666" cy="98937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5080" algn="r">
              <a:lnSpc>
                <a:spcPts val="3835"/>
              </a:lnSpc>
              <a:spcBef>
                <a:spcPts val="114"/>
              </a:spcBef>
            </a:pPr>
            <a:r>
              <a:rPr sz="3200" spc="125" dirty="0">
                <a:latin typeface="Tahoma"/>
                <a:cs typeface="Tahoma"/>
              </a:rPr>
              <a:t>Group</a:t>
            </a:r>
            <a:r>
              <a:rPr sz="3200" spc="-130" dirty="0">
                <a:latin typeface="Tahoma"/>
                <a:cs typeface="Tahoma"/>
              </a:rPr>
              <a:t> </a:t>
            </a:r>
            <a:r>
              <a:rPr sz="3200" spc="70" dirty="0">
                <a:latin typeface="Tahoma"/>
                <a:cs typeface="Tahoma"/>
              </a:rPr>
              <a:t>Members:</a:t>
            </a:r>
            <a:r>
              <a:rPr sz="3200" spc="-130" dirty="0">
                <a:latin typeface="Tahoma"/>
                <a:cs typeface="Tahoma"/>
              </a:rPr>
              <a:t> </a:t>
            </a:r>
            <a:r>
              <a:rPr lang="en-US" sz="3200" spc="100" dirty="0">
                <a:latin typeface="Tahoma"/>
                <a:cs typeface="Tahoma"/>
              </a:rPr>
              <a:t>Chandresh Patel </a:t>
            </a:r>
            <a:r>
              <a:rPr sz="3200" spc="114" dirty="0">
                <a:latin typeface="Tahoma"/>
                <a:cs typeface="Tahoma"/>
              </a:rPr>
              <a:t>(200</a:t>
            </a:r>
            <a:r>
              <a:rPr lang="en-US" sz="3200" spc="114" dirty="0">
                <a:latin typeface="Tahoma"/>
                <a:cs typeface="Tahoma"/>
              </a:rPr>
              <a:t>595392</a:t>
            </a:r>
            <a:r>
              <a:rPr sz="3200" spc="114" dirty="0">
                <a:latin typeface="Tahoma"/>
                <a:cs typeface="Tahoma"/>
              </a:rPr>
              <a:t>)</a:t>
            </a:r>
            <a:endParaRPr sz="3200" dirty="0">
              <a:latin typeface="Tahoma"/>
              <a:cs typeface="Tahoma"/>
            </a:endParaRPr>
          </a:p>
          <a:p>
            <a:pPr marR="34290" algn="r">
              <a:lnSpc>
                <a:spcPts val="3835"/>
              </a:lnSpc>
            </a:pPr>
            <a:r>
              <a:rPr lang="en-US" sz="3200" spc="80" dirty="0">
                <a:latin typeface="Tahoma"/>
                <a:cs typeface="Tahoma"/>
              </a:rPr>
              <a:t>Nancy Jangwal </a:t>
            </a:r>
            <a:r>
              <a:rPr sz="3200" spc="80" dirty="0">
                <a:latin typeface="Tahoma"/>
                <a:cs typeface="Tahoma"/>
              </a:rPr>
              <a:t>(200</a:t>
            </a:r>
            <a:r>
              <a:rPr lang="en-US" sz="3200" spc="80" dirty="0">
                <a:latin typeface="Tahoma"/>
                <a:cs typeface="Tahoma"/>
              </a:rPr>
              <a:t>591978</a:t>
            </a:r>
            <a:r>
              <a:rPr sz="3200" spc="80" dirty="0">
                <a:latin typeface="Tahoma"/>
                <a:cs typeface="Tahoma"/>
              </a:rPr>
              <a:t>)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29683" y="431355"/>
            <a:ext cx="203708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50" dirty="0">
                <a:solidFill>
                  <a:srgbClr val="2E4E4E"/>
                </a:solidFill>
                <a:latin typeface="Tahoma"/>
                <a:cs typeface="Tahoma"/>
              </a:rPr>
              <a:t>Data</a:t>
            </a:r>
            <a:r>
              <a:rPr sz="2650" spc="-1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650" spc="-10" dirty="0">
                <a:solidFill>
                  <a:srgbClr val="2E4E4E"/>
                </a:solidFill>
                <a:latin typeface="Tahoma"/>
                <a:cs typeface="Tahoma"/>
              </a:rPr>
              <a:t>Insights</a:t>
            </a:r>
            <a:endParaRPr sz="2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6359" y="2786129"/>
            <a:ext cx="9858373" cy="47148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8325" y="2755743"/>
            <a:ext cx="5500370" cy="602932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 marR="833119">
              <a:lnSpc>
                <a:spcPts val="9000"/>
              </a:lnSpc>
              <a:spcBef>
                <a:spcPts val="1900"/>
              </a:spcBef>
            </a:pPr>
            <a:r>
              <a:rPr sz="9000" spc="-10" dirty="0">
                <a:solidFill>
                  <a:srgbClr val="2E4E4E"/>
                </a:solidFill>
                <a:latin typeface="Tahoma"/>
                <a:cs typeface="Tahoma"/>
              </a:rPr>
              <a:t>Project </a:t>
            </a:r>
            <a:r>
              <a:rPr sz="9000" spc="-470" dirty="0">
                <a:solidFill>
                  <a:srgbClr val="2E4E4E"/>
                </a:solidFill>
                <a:latin typeface="Tahoma"/>
                <a:cs typeface="Tahoma"/>
              </a:rPr>
              <a:t>W</a:t>
            </a:r>
            <a:r>
              <a:rPr sz="9000" spc="-35" dirty="0">
                <a:solidFill>
                  <a:srgbClr val="2E4E4E"/>
                </a:solidFill>
                <a:latin typeface="Tahoma"/>
                <a:cs typeface="Tahoma"/>
              </a:rPr>
              <a:t>o</a:t>
            </a:r>
            <a:r>
              <a:rPr sz="9000" spc="-55" dirty="0">
                <a:solidFill>
                  <a:srgbClr val="2E4E4E"/>
                </a:solidFill>
                <a:latin typeface="Tahoma"/>
                <a:cs typeface="Tahoma"/>
              </a:rPr>
              <a:t>rk</a:t>
            </a:r>
            <a:r>
              <a:rPr sz="9000" spc="-45" dirty="0">
                <a:solidFill>
                  <a:srgbClr val="2E4E4E"/>
                </a:solidFill>
                <a:latin typeface="Tahoma"/>
                <a:cs typeface="Tahoma"/>
              </a:rPr>
              <a:t>f</a:t>
            </a:r>
            <a:r>
              <a:rPr sz="9000" spc="-70" dirty="0">
                <a:solidFill>
                  <a:srgbClr val="2E4E4E"/>
                </a:solidFill>
                <a:latin typeface="Tahoma"/>
                <a:cs typeface="Tahoma"/>
              </a:rPr>
              <a:t>l</a:t>
            </a:r>
            <a:r>
              <a:rPr sz="9000" spc="-195" dirty="0">
                <a:solidFill>
                  <a:srgbClr val="2E4E4E"/>
                </a:solidFill>
                <a:latin typeface="Tahoma"/>
                <a:cs typeface="Tahoma"/>
              </a:rPr>
              <a:t>o</a:t>
            </a:r>
            <a:r>
              <a:rPr sz="9000" spc="215" dirty="0">
                <a:solidFill>
                  <a:srgbClr val="2E4E4E"/>
                </a:solidFill>
                <a:latin typeface="Tahoma"/>
                <a:cs typeface="Tahoma"/>
              </a:rPr>
              <a:t>w</a:t>
            </a:r>
            <a:r>
              <a:rPr sz="9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9000" spc="-35" dirty="0">
                <a:solidFill>
                  <a:srgbClr val="2E4E4E"/>
                </a:solidFill>
                <a:latin typeface="Tahoma"/>
                <a:cs typeface="Tahoma"/>
              </a:rPr>
              <a:t>Overview</a:t>
            </a:r>
            <a:endParaRPr sz="9000">
              <a:latin typeface="Tahoma"/>
              <a:cs typeface="Tahoma"/>
            </a:endParaRPr>
          </a:p>
          <a:p>
            <a:pPr marL="12700" marR="5080">
              <a:lnSpc>
                <a:spcPts val="2320"/>
              </a:lnSpc>
              <a:spcBef>
                <a:spcPts val="2265"/>
              </a:spcBef>
            </a:pP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This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project</a:t>
            </a:r>
            <a:r>
              <a:rPr sz="2000" spc="-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demonstrates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an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130" dirty="0">
                <a:solidFill>
                  <a:srgbClr val="2E4E4E"/>
                </a:solidFill>
                <a:latin typeface="Tahoma"/>
                <a:cs typeface="Tahoma"/>
              </a:rPr>
              <a:t>end-</a:t>
            </a:r>
            <a:r>
              <a:rPr sz="2000" spc="145" dirty="0">
                <a:solidFill>
                  <a:srgbClr val="2E4E4E"/>
                </a:solidFill>
                <a:latin typeface="Tahoma"/>
                <a:cs typeface="Tahoma"/>
              </a:rPr>
              <a:t>to-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end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sentiment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analysis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workflow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using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Azure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services.</a:t>
            </a:r>
            <a:r>
              <a:rPr sz="2000" spc="9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9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workflow</a:t>
            </a:r>
            <a:r>
              <a:rPr sz="2000" spc="10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includes:</a:t>
            </a:r>
            <a:r>
              <a:rPr sz="2000" spc="9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preprocessing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text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data,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2E4E4E"/>
                </a:solidFill>
                <a:latin typeface="Tahoma"/>
                <a:cs typeface="Tahoma"/>
              </a:rPr>
              <a:t>uploading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120" dirty="0">
                <a:solidFill>
                  <a:srgbClr val="2E4E4E"/>
                </a:solidFill>
                <a:latin typeface="Tahoma"/>
                <a:cs typeface="Tahoma"/>
              </a:rPr>
              <a:t>CSV</a:t>
            </a:r>
            <a:r>
              <a:rPr sz="2000" spc="-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to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Blob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Storage, </a:t>
            </a:r>
            <a:r>
              <a:rPr sz="2000" spc="45" dirty="0">
                <a:solidFill>
                  <a:srgbClr val="2E4E4E"/>
                </a:solidFill>
                <a:latin typeface="Tahoma"/>
                <a:cs typeface="Tahoma"/>
              </a:rPr>
              <a:t>creating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 an</a:t>
            </a:r>
            <a:r>
              <a:rPr sz="2000" spc="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ADF</a:t>
            </a:r>
            <a:r>
              <a:rPr sz="2000" spc="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pipeline,</a:t>
            </a:r>
            <a:r>
              <a:rPr sz="2000" spc="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loading</a:t>
            </a:r>
            <a:r>
              <a:rPr sz="2000" spc="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data</a:t>
            </a:r>
            <a:r>
              <a:rPr sz="2000" spc="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into</a:t>
            </a:r>
            <a:r>
              <a:rPr sz="2000" spc="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SQL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Database,</a:t>
            </a:r>
            <a:r>
              <a:rPr sz="2000" spc="2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and</a:t>
            </a:r>
            <a:r>
              <a:rPr sz="2000" spc="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visualizing</a:t>
            </a:r>
            <a:r>
              <a:rPr sz="2000" spc="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2E4E4E"/>
                </a:solidFill>
                <a:latin typeface="Tahoma"/>
                <a:cs typeface="Tahoma"/>
              </a:rPr>
              <a:t>results</a:t>
            </a:r>
            <a:r>
              <a:rPr sz="2000" spc="2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using</a:t>
            </a:r>
            <a:r>
              <a:rPr sz="2000" spc="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Power 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BI.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0907" y="3066833"/>
            <a:ext cx="10086974" cy="41719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8325" y="2755743"/>
            <a:ext cx="5052695" cy="429577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 marR="13970">
              <a:lnSpc>
                <a:spcPts val="9000"/>
              </a:lnSpc>
              <a:spcBef>
                <a:spcPts val="1900"/>
              </a:spcBef>
            </a:pPr>
            <a:r>
              <a:rPr sz="9000" spc="-20" dirty="0">
                <a:solidFill>
                  <a:srgbClr val="2E4E4E"/>
                </a:solidFill>
                <a:latin typeface="Tahoma"/>
                <a:cs typeface="Tahoma"/>
              </a:rPr>
              <a:t>Uploading </a:t>
            </a:r>
            <a:r>
              <a:rPr sz="9000" spc="365" dirty="0">
                <a:solidFill>
                  <a:srgbClr val="2E4E4E"/>
                </a:solidFill>
                <a:latin typeface="Tahoma"/>
                <a:cs typeface="Tahoma"/>
              </a:rPr>
              <a:t>CSV</a:t>
            </a:r>
            <a:r>
              <a:rPr sz="9000" spc="-9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9000" spc="-10" dirty="0">
                <a:solidFill>
                  <a:srgbClr val="2E4E4E"/>
                </a:solidFill>
                <a:latin typeface="Tahoma"/>
                <a:cs typeface="Tahoma"/>
              </a:rPr>
              <a:t>Files</a:t>
            </a:r>
            <a:endParaRPr sz="9000">
              <a:latin typeface="Tahoma"/>
              <a:cs typeface="Tahoma"/>
            </a:endParaRPr>
          </a:p>
          <a:p>
            <a:pPr marL="12700" marR="5080">
              <a:lnSpc>
                <a:spcPts val="2320"/>
              </a:lnSpc>
              <a:spcBef>
                <a:spcPts val="2270"/>
              </a:spcBef>
            </a:pPr>
            <a:r>
              <a:rPr sz="2000" spc="2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100" dirty="0">
                <a:solidFill>
                  <a:srgbClr val="2E4E4E"/>
                </a:solidFill>
                <a:latin typeface="Tahoma"/>
                <a:cs typeface="Tahoma"/>
              </a:rPr>
              <a:t>processed</a:t>
            </a:r>
            <a:r>
              <a:rPr sz="2000" spc="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2E4E4E"/>
                </a:solidFill>
                <a:latin typeface="Tahoma"/>
                <a:cs typeface="Tahoma"/>
              </a:rPr>
              <a:t>final_sentiment.csv</a:t>
            </a:r>
            <a:r>
              <a:rPr sz="2000" spc="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2E4E4E"/>
                </a:solidFill>
                <a:latin typeface="Tahoma"/>
                <a:cs typeface="Tahoma"/>
              </a:rPr>
              <a:t>file</a:t>
            </a:r>
            <a:r>
              <a:rPr sz="2000" spc="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was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uploaded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to</a:t>
            </a:r>
            <a:r>
              <a:rPr sz="2000" spc="-2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Azure</a:t>
            </a:r>
            <a:r>
              <a:rPr sz="2000" spc="-2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Blob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Storage</a:t>
            </a:r>
            <a:r>
              <a:rPr sz="2000" spc="-2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inside</a:t>
            </a:r>
            <a:r>
              <a:rPr sz="2000" spc="-2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a </a:t>
            </a:r>
            <a:r>
              <a:rPr sz="2000" spc="95" dirty="0">
                <a:solidFill>
                  <a:srgbClr val="2E4E4E"/>
                </a:solidFill>
                <a:latin typeface="Tahoma"/>
                <a:cs typeface="Tahoma"/>
              </a:rPr>
              <a:t>dedicated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container.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This</a:t>
            </a:r>
            <a:r>
              <a:rPr sz="2000" spc="-2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file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serves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as</a:t>
            </a:r>
            <a:r>
              <a:rPr sz="2000" spc="-2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E4E4E"/>
                </a:solidFill>
                <a:latin typeface="Tahoma"/>
                <a:cs typeface="Tahoma"/>
              </a:rPr>
              <a:t>the 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input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source</a:t>
            </a:r>
            <a:r>
              <a:rPr sz="2000" spc="-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for</a:t>
            </a:r>
            <a:r>
              <a:rPr sz="2000" spc="-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Azure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Data</a:t>
            </a:r>
            <a:r>
              <a:rPr sz="2000" spc="-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2E4E4E"/>
                </a:solidFill>
                <a:latin typeface="Tahoma"/>
                <a:cs typeface="Tahoma"/>
              </a:rPr>
              <a:t>Factory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pipeline.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BLOB</a:t>
            </a:r>
            <a:r>
              <a:rPr spc="100" dirty="0"/>
              <a:t> </a:t>
            </a:r>
            <a:r>
              <a:rPr spc="-10" dirty="0"/>
              <a:t>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6754" y="3131083"/>
            <a:ext cx="9915524" cy="4571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8325" y="2755743"/>
            <a:ext cx="5527040" cy="632460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 marR="859790">
              <a:lnSpc>
                <a:spcPts val="9000"/>
              </a:lnSpc>
              <a:spcBef>
                <a:spcPts val="1900"/>
              </a:spcBef>
            </a:pPr>
            <a:r>
              <a:rPr sz="9000" spc="-10" dirty="0">
                <a:solidFill>
                  <a:srgbClr val="2E4E4E"/>
                </a:solidFill>
                <a:latin typeface="Tahoma"/>
                <a:cs typeface="Tahoma"/>
              </a:rPr>
              <a:t>Pipeline </a:t>
            </a:r>
            <a:r>
              <a:rPr sz="9000" spc="85" dirty="0">
                <a:solidFill>
                  <a:srgbClr val="2E4E4E"/>
                </a:solidFill>
                <a:latin typeface="Tahoma"/>
                <a:cs typeface="Tahoma"/>
              </a:rPr>
              <a:t>Setup </a:t>
            </a:r>
            <a:r>
              <a:rPr sz="9000" spc="-35" dirty="0">
                <a:solidFill>
                  <a:srgbClr val="2E4E4E"/>
                </a:solidFill>
                <a:latin typeface="Tahoma"/>
                <a:cs typeface="Tahoma"/>
              </a:rPr>
              <a:t>Overview</a:t>
            </a:r>
            <a:endParaRPr sz="9000">
              <a:latin typeface="Tahoma"/>
              <a:cs typeface="Tahoma"/>
            </a:endParaRPr>
          </a:p>
          <a:p>
            <a:pPr marL="12700" marR="191135">
              <a:lnSpc>
                <a:spcPts val="2320"/>
              </a:lnSpc>
              <a:spcBef>
                <a:spcPts val="2265"/>
              </a:spcBef>
            </a:pP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This </a:t>
            </a:r>
            <a:r>
              <a:rPr sz="2000" spc="80" dirty="0">
                <a:solidFill>
                  <a:srgbClr val="2E4E4E"/>
                </a:solidFill>
                <a:latin typeface="Tahoma"/>
                <a:cs typeface="Tahoma"/>
              </a:rPr>
              <a:t>section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 explains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b="1" spc="60" dirty="0">
                <a:solidFill>
                  <a:srgbClr val="2E4E4E"/>
                </a:solidFill>
                <a:latin typeface="Trebuchet MS"/>
                <a:cs typeface="Trebuchet MS"/>
              </a:rPr>
              <a:t>ADF</a:t>
            </a:r>
            <a:r>
              <a:rPr sz="2000" b="1" spc="-40" dirty="0">
                <a:solidFill>
                  <a:srgbClr val="2E4E4E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E4E4E"/>
                </a:solidFill>
                <a:latin typeface="Trebuchet MS"/>
                <a:cs typeface="Trebuchet MS"/>
              </a:rPr>
              <a:t>pipeline</a:t>
            </a:r>
            <a:r>
              <a:rPr sz="2000" b="1" spc="-40" dirty="0">
                <a:solidFill>
                  <a:srgbClr val="2E4E4E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2E4E4E"/>
                </a:solidFill>
                <a:latin typeface="Trebuchet MS"/>
                <a:cs typeface="Trebuchet MS"/>
              </a:rPr>
              <a:t>setup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,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detailing</a:t>
            </a:r>
            <a:r>
              <a:rPr sz="2000" spc="-1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1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120" dirty="0">
                <a:solidFill>
                  <a:srgbClr val="2E4E4E"/>
                </a:solidFill>
                <a:latin typeface="Tahoma"/>
                <a:cs typeface="Tahoma"/>
              </a:rPr>
              <a:t>Copy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Data</a:t>
            </a:r>
            <a:r>
              <a:rPr sz="2000" spc="-1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activity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and</a:t>
            </a:r>
            <a:r>
              <a:rPr sz="2000" spc="-1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how</a:t>
            </a:r>
            <a:r>
              <a:rPr sz="2000" spc="-1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to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configure</a:t>
            </a:r>
            <a:r>
              <a:rPr sz="2000" spc="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linked</a:t>
            </a:r>
            <a:r>
              <a:rPr sz="2000" spc="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services</a:t>
            </a:r>
            <a:r>
              <a:rPr sz="2000" spc="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for</a:t>
            </a:r>
            <a:r>
              <a:rPr sz="2000" spc="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2E4E4E"/>
                </a:solidFill>
                <a:latin typeface="Tahoma"/>
                <a:cs typeface="Tahoma"/>
              </a:rPr>
              <a:t>seamless</a:t>
            </a:r>
            <a:r>
              <a:rPr sz="2000" spc="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2E4E4E"/>
                </a:solidFill>
                <a:latin typeface="Tahoma"/>
                <a:cs typeface="Tahoma"/>
              </a:rPr>
              <a:t>data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movement.</a:t>
            </a:r>
            <a:endParaRPr sz="2000">
              <a:latin typeface="Tahoma"/>
              <a:cs typeface="Tahoma"/>
            </a:endParaRPr>
          </a:p>
          <a:p>
            <a:pPr marL="12700" marR="5080" indent="-11430">
              <a:lnSpc>
                <a:spcPts val="2320"/>
              </a:lnSpc>
              <a:spcBef>
                <a:spcPts val="20"/>
              </a:spcBef>
              <a:buSzPct val="77500"/>
              <a:buChar char="•"/>
              <a:tabLst>
                <a:tab pos="102870" algn="l"/>
              </a:tabLst>
            </a:pP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	An</a:t>
            </a:r>
            <a:r>
              <a:rPr sz="2000" spc="-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ADF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120" dirty="0">
                <a:solidFill>
                  <a:srgbClr val="2E4E4E"/>
                </a:solidFill>
                <a:latin typeface="Tahoma"/>
                <a:cs typeface="Tahoma"/>
              </a:rPr>
              <a:t>Copy</a:t>
            </a:r>
            <a:r>
              <a:rPr sz="2000" spc="-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Data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pipeline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was</a:t>
            </a:r>
            <a:r>
              <a:rPr sz="2000" spc="-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created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to automate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transfer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of</a:t>
            </a:r>
            <a:r>
              <a:rPr sz="2000" spc="-2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120" dirty="0">
                <a:solidFill>
                  <a:srgbClr val="2E4E4E"/>
                </a:solidFill>
                <a:latin typeface="Tahoma"/>
                <a:cs typeface="Tahoma"/>
              </a:rPr>
              <a:t>CSV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file</a:t>
            </a:r>
            <a:r>
              <a:rPr sz="2000" spc="-2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from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E4E4E"/>
                </a:solidFill>
                <a:latin typeface="Tahoma"/>
                <a:cs typeface="Tahoma"/>
              </a:rPr>
              <a:t>Blob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Storage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into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Azure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SQL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Database.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2E4E4E"/>
                </a:solidFill>
                <a:latin typeface="Tahoma"/>
                <a:cs typeface="Tahoma"/>
              </a:rPr>
              <a:t>pipeline </a:t>
            </a:r>
            <a:r>
              <a:rPr sz="2000" spc="70" dirty="0">
                <a:solidFill>
                  <a:srgbClr val="2E4E4E"/>
                </a:solidFill>
                <a:latin typeface="Tahoma"/>
                <a:cs typeface="Tahoma"/>
              </a:rPr>
              <a:t>includes</a:t>
            </a:r>
            <a:r>
              <a:rPr sz="2000" spc="-7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both</a:t>
            </a:r>
            <a:r>
              <a:rPr sz="2000" spc="-7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source</a:t>
            </a:r>
            <a:r>
              <a:rPr sz="2000" spc="-7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and</a:t>
            </a:r>
            <a:r>
              <a:rPr sz="2000" spc="-7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sink</a:t>
            </a:r>
            <a:r>
              <a:rPr sz="2000" spc="-7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configurations.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ADF</a:t>
            </a:r>
            <a:r>
              <a:rPr spc="-65" dirty="0"/>
              <a:t> </a:t>
            </a:r>
            <a:r>
              <a:rPr spc="-30" dirty="0"/>
              <a:t>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67649" y="19049"/>
            <a:ext cx="10420350" cy="10267950"/>
          </a:xfrm>
          <a:custGeom>
            <a:avLst/>
            <a:gdLst/>
            <a:ahLst/>
            <a:cxnLst/>
            <a:rect l="l" t="t" r="r" b="b"/>
            <a:pathLst>
              <a:path w="10420350" h="10267950">
                <a:moveTo>
                  <a:pt x="10420350" y="10267950"/>
                </a:moveTo>
                <a:lnTo>
                  <a:pt x="0" y="10267950"/>
                </a:lnTo>
                <a:lnTo>
                  <a:pt x="0" y="0"/>
                </a:lnTo>
                <a:lnTo>
                  <a:pt x="10420350" y="0"/>
                </a:lnTo>
                <a:lnTo>
                  <a:pt x="10420350" y="10267950"/>
                </a:lnTo>
                <a:close/>
              </a:path>
            </a:pathLst>
          </a:custGeom>
          <a:solidFill>
            <a:srgbClr val="2E4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0876" y="2503239"/>
            <a:ext cx="9982199" cy="46386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8325" y="2755743"/>
            <a:ext cx="6769100" cy="488632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 marR="5080">
              <a:lnSpc>
                <a:spcPts val="9000"/>
              </a:lnSpc>
              <a:spcBef>
                <a:spcPts val="1900"/>
              </a:spcBef>
            </a:pPr>
            <a:r>
              <a:rPr sz="9000" spc="70" dirty="0">
                <a:solidFill>
                  <a:srgbClr val="2E4E4E"/>
                </a:solidFill>
                <a:latin typeface="Tahoma"/>
                <a:cs typeface="Tahoma"/>
              </a:rPr>
              <a:t>ADF</a:t>
            </a:r>
            <a:r>
              <a:rPr sz="9000" spc="-9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9000" spc="70" dirty="0">
                <a:solidFill>
                  <a:srgbClr val="2E4E4E"/>
                </a:solidFill>
                <a:latin typeface="Tahoma"/>
                <a:cs typeface="Tahoma"/>
              </a:rPr>
              <a:t>Source </a:t>
            </a:r>
            <a:r>
              <a:rPr sz="9000" spc="-10" dirty="0">
                <a:solidFill>
                  <a:srgbClr val="2E4E4E"/>
                </a:solidFill>
                <a:latin typeface="Tahoma"/>
                <a:cs typeface="Tahoma"/>
              </a:rPr>
              <a:t>Configuration</a:t>
            </a:r>
            <a:endParaRPr sz="9000">
              <a:latin typeface="Tahoma"/>
              <a:cs typeface="Tahoma"/>
            </a:endParaRPr>
          </a:p>
          <a:p>
            <a:pPr marL="12700" marR="1329690">
              <a:lnSpc>
                <a:spcPts val="2330"/>
              </a:lnSpc>
              <a:spcBef>
                <a:spcPts val="2260"/>
              </a:spcBef>
            </a:pPr>
            <a:r>
              <a:rPr sz="2000" spc="-145" dirty="0">
                <a:solidFill>
                  <a:srgbClr val="2E4E4E"/>
                </a:solidFill>
                <a:latin typeface="Tahoma"/>
                <a:cs typeface="Tahoma"/>
              </a:rPr>
              <a:t>In</a:t>
            </a:r>
            <a:r>
              <a:rPr sz="2000" spc="-4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this</a:t>
            </a:r>
            <a:r>
              <a:rPr sz="2000" spc="-4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section,</a:t>
            </a:r>
            <a:r>
              <a:rPr sz="2000" spc="-4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we</a:t>
            </a:r>
            <a:r>
              <a:rPr sz="2000" spc="-4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detail</a:t>
            </a:r>
            <a:r>
              <a:rPr sz="2000" spc="-4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2E4E4E"/>
                </a:solidFill>
                <a:latin typeface="Trebuchet MS"/>
                <a:cs typeface="Trebuchet MS"/>
              </a:rPr>
              <a:t>setup</a:t>
            </a:r>
            <a:r>
              <a:rPr sz="2000" b="1" spc="-80" dirty="0">
                <a:solidFill>
                  <a:srgbClr val="2E4E4E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E4E4E"/>
                </a:solidFill>
                <a:latin typeface="Trebuchet MS"/>
                <a:cs typeface="Trebuchet MS"/>
              </a:rPr>
              <a:t>of</a:t>
            </a:r>
            <a:r>
              <a:rPr sz="2000" b="1" spc="-80" dirty="0">
                <a:solidFill>
                  <a:srgbClr val="2E4E4E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2E4E4E"/>
                </a:solidFill>
                <a:latin typeface="Trebuchet MS"/>
                <a:cs typeface="Trebuchet MS"/>
              </a:rPr>
              <a:t>the </a:t>
            </a:r>
            <a:r>
              <a:rPr sz="2000" b="1" spc="65" dirty="0">
                <a:solidFill>
                  <a:srgbClr val="2E4E4E"/>
                </a:solidFill>
                <a:latin typeface="Trebuchet MS"/>
                <a:cs typeface="Trebuchet MS"/>
              </a:rPr>
              <a:t>source</a:t>
            </a:r>
            <a:r>
              <a:rPr sz="2000" b="1" spc="-70" dirty="0">
                <a:solidFill>
                  <a:srgbClr val="2E4E4E"/>
                </a:solidFill>
                <a:latin typeface="Trebuchet MS"/>
                <a:cs typeface="Trebuchet MS"/>
              </a:rPr>
              <a:t> </a:t>
            </a:r>
            <a:r>
              <a:rPr sz="2000" b="1" spc="80" dirty="0">
                <a:solidFill>
                  <a:srgbClr val="2E4E4E"/>
                </a:solidFill>
                <a:latin typeface="Trebuchet MS"/>
                <a:cs typeface="Trebuchet MS"/>
              </a:rPr>
              <a:t>dataset</a:t>
            </a:r>
            <a:r>
              <a:rPr sz="2000" b="1" spc="-5" dirty="0">
                <a:solidFill>
                  <a:srgbClr val="2E4E4E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for</a:t>
            </a:r>
            <a:r>
              <a:rPr sz="2000" spc="-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our</a:t>
            </a:r>
            <a:r>
              <a:rPr sz="2000" spc="-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ADF</a:t>
            </a:r>
            <a:r>
              <a:rPr sz="2000" spc="-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pipeline,</a:t>
            </a:r>
            <a:r>
              <a:rPr sz="2000" spc="-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including </a:t>
            </a:r>
            <a:r>
              <a:rPr sz="2000" spc="120" dirty="0">
                <a:solidFill>
                  <a:srgbClr val="2E4E4E"/>
                </a:solidFill>
                <a:latin typeface="Tahoma"/>
                <a:cs typeface="Tahoma"/>
              </a:rPr>
              <a:t>CSV</a:t>
            </a:r>
            <a:r>
              <a:rPr sz="2000" spc="-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handling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and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85" dirty="0">
                <a:solidFill>
                  <a:srgbClr val="2E4E4E"/>
                </a:solidFill>
                <a:latin typeface="Tahoma"/>
                <a:cs typeface="Tahoma"/>
              </a:rPr>
              <a:t>schema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2E4E4E"/>
                </a:solidFill>
                <a:latin typeface="Tahoma"/>
                <a:cs typeface="Tahoma"/>
              </a:rPr>
              <a:t>import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processes.</a:t>
            </a:r>
            <a:endParaRPr sz="2000">
              <a:latin typeface="Tahoma"/>
              <a:cs typeface="Tahoma"/>
            </a:endParaRPr>
          </a:p>
          <a:p>
            <a:pPr marL="102870" indent="-101600">
              <a:lnSpc>
                <a:spcPts val="2210"/>
              </a:lnSpc>
              <a:buSzPct val="77500"/>
              <a:buChar char="•"/>
              <a:tabLst>
                <a:tab pos="102870" algn="l"/>
              </a:tabLst>
            </a:pP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source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2E4E4E"/>
                </a:solidFill>
                <a:latin typeface="Tahoma"/>
                <a:cs typeface="Tahoma"/>
              </a:rPr>
              <a:t>dataset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was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configured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to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2E4E4E"/>
                </a:solidFill>
                <a:latin typeface="Tahoma"/>
                <a:cs typeface="Tahoma"/>
              </a:rPr>
              <a:t>read</a:t>
            </a:r>
            <a:endParaRPr sz="2000">
              <a:latin typeface="Tahoma"/>
              <a:cs typeface="Tahoma"/>
            </a:endParaRPr>
          </a:p>
          <a:p>
            <a:pPr marL="12700" marR="2014220" algn="just">
              <a:lnSpc>
                <a:spcPts val="2330"/>
              </a:lnSpc>
              <a:spcBef>
                <a:spcPts val="100"/>
              </a:spcBef>
            </a:pP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120" dirty="0">
                <a:solidFill>
                  <a:srgbClr val="2E4E4E"/>
                </a:solidFill>
                <a:latin typeface="Tahoma"/>
                <a:cs typeface="Tahoma"/>
              </a:rPr>
              <a:t>CSV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from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Blob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Storage.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Schema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was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imported</a:t>
            </a:r>
            <a:r>
              <a:rPr sz="2000" spc="-4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automatically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from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file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40" dirty="0">
                <a:solidFill>
                  <a:srgbClr val="2E4E4E"/>
                </a:solidFill>
                <a:latin typeface="Tahoma"/>
                <a:cs typeface="Tahoma"/>
              </a:rPr>
              <a:t>and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delimiter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was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2E4E4E"/>
                </a:solidFill>
                <a:latin typeface="Tahoma"/>
                <a:cs typeface="Tahoma"/>
              </a:rPr>
              <a:t>set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correctly.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SOURCE</a:t>
            </a:r>
            <a:r>
              <a:rPr spc="-60" dirty="0"/>
              <a:t> </a:t>
            </a:r>
            <a:r>
              <a:rPr spc="-10" dirty="0"/>
              <a:t>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3502" y="3595257"/>
            <a:ext cx="9915524" cy="42195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8325" y="2755743"/>
            <a:ext cx="5388610" cy="632460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 marR="721360">
              <a:lnSpc>
                <a:spcPts val="9000"/>
              </a:lnSpc>
              <a:spcBef>
                <a:spcPts val="1900"/>
              </a:spcBef>
            </a:pPr>
            <a:r>
              <a:rPr sz="9000" spc="-640" dirty="0">
                <a:solidFill>
                  <a:srgbClr val="2E4E4E"/>
                </a:solidFill>
                <a:latin typeface="Tahoma"/>
                <a:cs typeface="Tahoma"/>
              </a:rPr>
              <a:t>T</a:t>
            </a:r>
            <a:r>
              <a:rPr sz="9000" spc="75" dirty="0">
                <a:solidFill>
                  <a:srgbClr val="2E4E4E"/>
                </a:solidFill>
                <a:latin typeface="Tahoma"/>
                <a:cs typeface="Tahoma"/>
              </a:rPr>
              <a:t>a</a:t>
            </a:r>
            <a:r>
              <a:rPr sz="9000" spc="100" dirty="0">
                <a:solidFill>
                  <a:srgbClr val="2E4E4E"/>
                </a:solidFill>
                <a:latin typeface="Tahoma"/>
                <a:cs typeface="Tahoma"/>
              </a:rPr>
              <a:t>b</a:t>
            </a:r>
            <a:r>
              <a:rPr sz="9000" spc="55" dirty="0">
                <a:solidFill>
                  <a:srgbClr val="2E4E4E"/>
                </a:solidFill>
                <a:latin typeface="Tahoma"/>
                <a:cs typeface="Tahoma"/>
              </a:rPr>
              <a:t>l</a:t>
            </a:r>
            <a:r>
              <a:rPr sz="9000" spc="340" dirty="0">
                <a:solidFill>
                  <a:srgbClr val="2E4E4E"/>
                </a:solidFill>
                <a:latin typeface="Tahoma"/>
                <a:cs typeface="Tahoma"/>
              </a:rPr>
              <a:t>e</a:t>
            </a:r>
            <a:r>
              <a:rPr sz="9000" spc="-1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9000" spc="70" dirty="0">
                <a:solidFill>
                  <a:srgbClr val="2E4E4E"/>
                </a:solidFill>
                <a:latin typeface="Tahoma"/>
                <a:cs typeface="Tahoma"/>
              </a:rPr>
              <a:t>Mapping </a:t>
            </a:r>
            <a:r>
              <a:rPr sz="9000" spc="-35" dirty="0">
                <a:solidFill>
                  <a:srgbClr val="2E4E4E"/>
                </a:solidFill>
                <a:latin typeface="Tahoma"/>
                <a:cs typeface="Tahoma"/>
              </a:rPr>
              <a:t>Overview</a:t>
            </a:r>
            <a:endParaRPr sz="9000">
              <a:latin typeface="Tahoma"/>
              <a:cs typeface="Tahoma"/>
            </a:endParaRPr>
          </a:p>
          <a:p>
            <a:pPr marL="12700" marR="371475">
              <a:lnSpc>
                <a:spcPts val="2320"/>
              </a:lnSpc>
              <a:spcBef>
                <a:spcPts val="2265"/>
              </a:spcBef>
            </a:pP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This</a:t>
            </a:r>
            <a:r>
              <a:rPr sz="2000" spc="-7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2E4E4E"/>
                </a:solidFill>
                <a:latin typeface="Tahoma"/>
                <a:cs typeface="Tahoma"/>
              </a:rPr>
              <a:t>section</a:t>
            </a:r>
            <a:r>
              <a:rPr sz="2000" spc="-7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details</a:t>
            </a:r>
            <a:r>
              <a:rPr sz="2000" spc="-7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b="1" spc="80" dirty="0">
                <a:solidFill>
                  <a:srgbClr val="2E4E4E"/>
                </a:solidFill>
                <a:latin typeface="Trebuchet MS"/>
                <a:cs typeface="Trebuchet MS"/>
              </a:rPr>
              <a:t>mapping</a:t>
            </a:r>
            <a:r>
              <a:rPr sz="2000" b="1" spc="-105" dirty="0">
                <a:solidFill>
                  <a:srgbClr val="2E4E4E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2E4E4E"/>
                </a:solidFill>
                <a:latin typeface="Trebuchet MS"/>
                <a:cs typeface="Trebuchet MS"/>
              </a:rPr>
              <a:t>of</a:t>
            </a:r>
            <a:r>
              <a:rPr sz="2000" b="1" spc="-100" dirty="0">
                <a:solidFill>
                  <a:srgbClr val="2E4E4E"/>
                </a:solidFill>
                <a:latin typeface="Trebuchet MS"/>
                <a:cs typeface="Trebuchet MS"/>
              </a:rPr>
              <a:t> </a:t>
            </a:r>
            <a:r>
              <a:rPr sz="2000" b="1" spc="55" dirty="0">
                <a:solidFill>
                  <a:srgbClr val="2E4E4E"/>
                </a:solidFill>
                <a:latin typeface="Trebuchet MS"/>
                <a:cs typeface="Trebuchet MS"/>
              </a:rPr>
              <a:t>tables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between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8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ADF</a:t>
            </a:r>
            <a:r>
              <a:rPr sz="2000" spc="-8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pipeline</a:t>
            </a:r>
            <a:r>
              <a:rPr sz="2000" spc="-8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and</a:t>
            </a:r>
            <a:r>
              <a:rPr sz="2000" spc="-8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8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SQL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database,</a:t>
            </a:r>
            <a:r>
              <a:rPr sz="2000" spc="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ensuring</a:t>
            </a:r>
            <a:r>
              <a:rPr sz="2000" spc="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accurate</a:t>
            </a:r>
            <a:r>
              <a:rPr sz="2000" spc="4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data</a:t>
            </a:r>
            <a:r>
              <a:rPr sz="2000" spc="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flow</a:t>
            </a:r>
            <a:r>
              <a:rPr sz="2000" spc="40" dirty="0">
                <a:solidFill>
                  <a:srgbClr val="2E4E4E"/>
                </a:solidFill>
                <a:latin typeface="Tahoma"/>
                <a:cs typeface="Tahoma"/>
              </a:rPr>
              <a:t> and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integrity</a:t>
            </a:r>
            <a:r>
              <a:rPr sz="2000" spc="14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throughout</a:t>
            </a:r>
            <a:r>
              <a:rPr sz="2000" spc="1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1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2E4E4E"/>
                </a:solidFill>
                <a:latin typeface="Tahoma"/>
                <a:cs typeface="Tahoma"/>
              </a:rPr>
              <a:t>process.</a:t>
            </a:r>
            <a:endParaRPr sz="2000">
              <a:latin typeface="Tahoma"/>
              <a:cs typeface="Tahoma"/>
            </a:endParaRPr>
          </a:p>
          <a:p>
            <a:pPr marL="12700" marR="5080" indent="-11430">
              <a:lnSpc>
                <a:spcPts val="2320"/>
              </a:lnSpc>
              <a:spcBef>
                <a:spcPts val="20"/>
              </a:spcBef>
              <a:buSzPct val="77500"/>
              <a:buChar char="•"/>
              <a:tabLst>
                <a:tab pos="102870" algn="l"/>
              </a:tabLst>
            </a:pP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	The</a:t>
            </a:r>
            <a:r>
              <a:rPr sz="2000" spc="-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sink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2E4E4E"/>
                </a:solidFill>
                <a:latin typeface="Tahoma"/>
                <a:cs typeface="Tahoma"/>
              </a:rPr>
              <a:t>dataset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was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95" dirty="0">
                <a:solidFill>
                  <a:srgbClr val="2E4E4E"/>
                </a:solidFill>
                <a:latin typeface="Tahoma"/>
                <a:cs typeface="Tahoma"/>
              </a:rPr>
              <a:t>connected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to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Azure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SQL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Database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and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2E4E4E"/>
                </a:solidFill>
                <a:latin typeface="Tahoma"/>
                <a:cs typeface="Tahoma"/>
              </a:rPr>
              <a:t>mapped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to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E4E4E"/>
                </a:solidFill>
                <a:latin typeface="Tahoma"/>
                <a:cs typeface="Tahoma"/>
              </a:rPr>
              <a:t>the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SentimentOutput</a:t>
            </a:r>
            <a:r>
              <a:rPr sz="2000" spc="-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table.</a:t>
            </a:r>
            <a:r>
              <a:rPr sz="2000" spc="-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This allowed</a:t>
            </a:r>
            <a:r>
              <a:rPr sz="2000" spc="-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95" dirty="0">
                <a:solidFill>
                  <a:srgbClr val="2E4E4E"/>
                </a:solidFill>
                <a:latin typeface="Tahoma"/>
                <a:cs typeface="Tahoma"/>
              </a:rPr>
              <a:t>CSV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data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to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114" dirty="0">
                <a:solidFill>
                  <a:srgbClr val="2E4E4E"/>
                </a:solidFill>
                <a:latin typeface="Tahoma"/>
                <a:cs typeface="Tahoma"/>
              </a:rPr>
              <a:t>be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inserted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into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SQL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Server.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SINK</a:t>
            </a:r>
            <a:r>
              <a:rPr spc="-95" dirty="0"/>
              <a:t> </a:t>
            </a:r>
            <a:r>
              <a:rPr spc="-10" dirty="0"/>
              <a:t>DATASET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8325" y="2755743"/>
            <a:ext cx="5419090" cy="632460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 marR="751840">
              <a:lnSpc>
                <a:spcPts val="9000"/>
              </a:lnSpc>
              <a:spcBef>
                <a:spcPts val="1900"/>
              </a:spcBef>
            </a:pPr>
            <a:r>
              <a:rPr sz="9000" spc="110" dirty="0">
                <a:solidFill>
                  <a:srgbClr val="2E4E4E"/>
                </a:solidFill>
                <a:latin typeface="Tahoma"/>
                <a:cs typeface="Tahoma"/>
              </a:rPr>
              <a:t>Column </a:t>
            </a:r>
            <a:r>
              <a:rPr sz="9000" spc="70" dirty="0">
                <a:solidFill>
                  <a:srgbClr val="2E4E4E"/>
                </a:solidFill>
                <a:latin typeface="Tahoma"/>
                <a:cs typeface="Tahoma"/>
              </a:rPr>
              <a:t>Mapping </a:t>
            </a:r>
            <a:r>
              <a:rPr sz="9000" spc="-35" dirty="0">
                <a:solidFill>
                  <a:srgbClr val="2E4E4E"/>
                </a:solidFill>
                <a:latin typeface="Tahoma"/>
                <a:cs typeface="Tahoma"/>
              </a:rPr>
              <a:t>Overview</a:t>
            </a:r>
            <a:endParaRPr sz="9000">
              <a:latin typeface="Tahoma"/>
              <a:cs typeface="Tahoma"/>
            </a:endParaRPr>
          </a:p>
          <a:p>
            <a:pPr marL="12700" marR="132080">
              <a:lnSpc>
                <a:spcPts val="2320"/>
              </a:lnSpc>
              <a:spcBef>
                <a:spcPts val="2265"/>
              </a:spcBef>
            </a:pP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This</a:t>
            </a:r>
            <a:r>
              <a:rPr sz="2000" spc="-8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2E4E4E"/>
                </a:solidFill>
                <a:latin typeface="Tahoma"/>
                <a:cs typeface="Tahoma"/>
              </a:rPr>
              <a:t>section</a:t>
            </a:r>
            <a:r>
              <a:rPr sz="2000" spc="-7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2E4E4E"/>
                </a:solidFill>
                <a:latin typeface="Tahoma"/>
                <a:cs typeface="Tahoma"/>
              </a:rPr>
              <a:t>outlines</a:t>
            </a:r>
            <a:r>
              <a:rPr sz="2000" spc="-7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7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95" dirty="0">
                <a:solidFill>
                  <a:srgbClr val="2E4E4E"/>
                </a:solidFill>
                <a:latin typeface="Tahoma"/>
                <a:cs typeface="Tahoma"/>
              </a:rPr>
              <a:t>process</a:t>
            </a:r>
            <a:r>
              <a:rPr sz="2000" spc="-8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of</a:t>
            </a:r>
            <a:r>
              <a:rPr sz="2000" spc="-7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mapping </a:t>
            </a:r>
            <a:r>
              <a:rPr sz="2000" spc="70" dirty="0">
                <a:solidFill>
                  <a:srgbClr val="2E4E4E"/>
                </a:solidFill>
                <a:latin typeface="Tahoma"/>
                <a:cs typeface="Tahoma"/>
              </a:rPr>
              <a:t>columns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between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source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120" dirty="0">
                <a:solidFill>
                  <a:srgbClr val="2E4E4E"/>
                </a:solidFill>
                <a:latin typeface="Tahoma"/>
                <a:cs typeface="Tahoma"/>
              </a:rPr>
              <a:t>CSV</a:t>
            </a:r>
            <a:r>
              <a:rPr sz="2000" spc="-8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data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40" dirty="0">
                <a:solidFill>
                  <a:srgbClr val="2E4E4E"/>
                </a:solidFill>
                <a:latin typeface="Tahoma"/>
                <a:cs typeface="Tahoma"/>
              </a:rPr>
              <a:t>and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9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destination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SQL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database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to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ensure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accurate</a:t>
            </a:r>
            <a:r>
              <a:rPr sz="2000" spc="-9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data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transfer.</a:t>
            </a:r>
            <a:endParaRPr sz="2000">
              <a:latin typeface="Tahoma"/>
              <a:cs typeface="Tahoma"/>
            </a:endParaRPr>
          </a:p>
          <a:p>
            <a:pPr marL="12700" marR="5080" indent="-11430">
              <a:lnSpc>
                <a:spcPts val="2320"/>
              </a:lnSpc>
              <a:spcBef>
                <a:spcPts val="20"/>
              </a:spcBef>
              <a:buSzPct val="77500"/>
              <a:buChar char="•"/>
              <a:tabLst>
                <a:tab pos="102870" algn="l"/>
              </a:tabLst>
            </a:pP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	The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mapping</a:t>
            </a:r>
            <a:r>
              <a:rPr sz="2000" spc="-4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85" dirty="0">
                <a:solidFill>
                  <a:srgbClr val="2E4E4E"/>
                </a:solidFill>
                <a:latin typeface="Tahoma"/>
                <a:cs typeface="Tahoma"/>
              </a:rPr>
              <a:t>step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ensures</a:t>
            </a:r>
            <a:r>
              <a:rPr sz="2000" spc="-4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that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every</a:t>
            </a:r>
            <a:r>
              <a:rPr sz="2000" spc="-4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95" dirty="0">
                <a:solidFill>
                  <a:srgbClr val="2E4E4E"/>
                </a:solidFill>
                <a:latin typeface="Tahoma"/>
                <a:cs typeface="Tahoma"/>
              </a:rPr>
              <a:t>CSV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column</a:t>
            </a:r>
            <a:r>
              <a:rPr sz="2000" spc="-9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is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correctly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85" dirty="0">
                <a:solidFill>
                  <a:srgbClr val="2E4E4E"/>
                </a:solidFill>
                <a:latin typeface="Tahoma"/>
                <a:cs typeface="Tahoma"/>
              </a:rPr>
              <a:t>matched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to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SQL</a:t>
            </a:r>
            <a:r>
              <a:rPr sz="2000" spc="-9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table: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text,</a:t>
            </a:r>
            <a:r>
              <a:rPr sz="2000" spc="1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text_clean,</a:t>
            </a:r>
            <a:r>
              <a:rPr sz="2000" spc="14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2E4E4E"/>
                </a:solidFill>
                <a:latin typeface="Tahoma"/>
                <a:cs typeface="Tahoma"/>
              </a:rPr>
              <a:t>sentiment_score, </a:t>
            </a:r>
            <a:r>
              <a:rPr sz="2000" spc="35" dirty="0">
                <a:solidFill>
                  <a:srgbClr val="2E4E4E"/>
                </a:solidFill>
                <a:latin typeface="Tahoma"/>
                <a:cs typeface="Tahoma"/>
              </a:rPr>
              <a:t>sentiment_label.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MAPPING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6679" y="3051333"/>
            <a:ext cx="9801224" cy="45338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8831" y="695487"/>
            <a:ext cx="9934574" cy="42481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88831" y="5580755"/>
            <a:ext cx="9934574" cy="42386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8325" y="2755743"/>
            <a:ext cx="6071235" cy="400050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 marR="5080">
              <a:lnSpc>
                <a:spcPts val="9000"/>
              </a:lnSpc>
              <a:spcBef>
                <a:spcPts val="1900"/>
              </a:spcBef>
            </a:pPr>
            <a:r>
              <a:rPr sz="9000" spc="-10" dirty="0">
                <a:solidFill>
                  <a:srgbClr val="2E4E4E"/>
                </a:solidFill>
                <a:latin typeface="Tahoma"/>
                <a:cs typeface="Tahoma"/>
              </a:rPr>
              <a:t>Pipeline</a:t>
            </a:r>
            <a:r>
              <a:rPr sz="9000" spc="-944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9000" spc="-155" dirty="0">
                <a:solidFill>
                  <a:srgbClr val="2E4E4E"/>
                </a:solidFill>
                <a:latin typeface="Tahoma"/>
                <a:cs typeface="Tahoma"/>
              </a:rPr>
              <a:t>Run </a:t>
            </a:r>
            <a:r>
              <a:rPr sz="9000" spc="-320" dirty="0">
                <a:solidFill>
                  <a:srgbClr val="2E4E4E"/>
                </a:solidFill>
                <a:latin typeface="Tahoma"/>
                <a:cs typeface="Tahoma"/>
              </a:rPr>
              <a:t>R</a:t>
            </a:r>
            <a:r>
              <a:rPr sz="9000" dirty="0">
                <a:solidFill>
                  <a:srgbClr val="2E4E4E"/>
                </a:solidFill>
                <a:latin typeface="Tahoma"/>
                <a:cs typeface="Tahoma"/>
              </a:rPr>
              <a:t>e</a:t>
            </a:r>
            <a:r>
              <a:rPr sz="9000" spc="5" dirty="0">
                <a:solidFill>
                  <a:srgbClr val="2E4E4E"/>
                </a:solidFill>
                <a:latin typeface="Tahoma"/>
                <a:cs typeface="Tahoma"/>
              </a:rPr>
              <a:t>s</a:t>
            </a:r>
            <a:r>
              <a:rPr sz="9000" spc="-15" dirty="0">
                <a:solidFill>
                  <a:srgbClr val="2E4E4E"/>
                </a:solidFill>
                <a:latin typeface="Tahoma"/>
                <a:cs typeface="Tahoma"/>
              </a:rPr>
              <a:t>u</a:t>
            </a:r>
            <a:r>
              <a:rPr sz="9000" spc="-35" dirty="0">
                <a:solidFill>
                  <a:srgbClr val="2E4E4E"/>
                </a:solidFill>
                <a:latin typeface="Tahoma"/>
                <a:cs typeface="Tahoma"/>
              </a:rPr>
              <a:t>l</a:t>
            </a:r>
            <a:r>
              <a:rPr sz="9000" spc="15" dirty="0">
                <a:solidFill>
                  <a:srgbClr val="2E4E4E"/>
                </a:solidFill>
                <a:latin typeface="Tahoma"/>
                <a:cs typeface="Tahoma"/>
              </a:rPr>
              <a:t>t</a:t>
            </a:r>
            <a:r>
              <a:rPr sz="9000" spc="250" dirty="0">
                <a:solidFill>
                  <a:srgbClr val="2E4E4E"/>
                </a:solidFill>
                <a:latin typeface="Tahoma"/>
                <a:cs typeface="Tahoma"/>
              </a:rPr>
              <a:t>s</a:t>
            </a:r>
            <a:endParaRPr sz="9000">
              <a:latin typeface="Tahoma"/>
              <a:cs typeface="Tahoma"/>
            </a:endParaRPr>
          </a:p>
          <a:p>
            <a:pPr marL="12700" marR="558800">
              <a:lnSpc>
                <a:spcPts val="2320"/>
              </a:lnSpc>
              <a:spcBef>
                <a:spcPts val="2270"/>
              </a:spcBef>
            </a:pP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pipeline</a:t>
            </a:r>
            <a:r>
              <a:rPr sz="2000" spc="4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successfully</a:t>
            </a:r>
            <a:r>
              <a:rPr sz="2000" spc="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executed,</a:t>
            </a:r>
            <a:r>
              <a:rPr sz="2000" spc="4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resulting</a:t>
            </a:r>
            <a:r>
              <a:rPr sz="2000" spc="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in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insertion</a:t>
            </a:r>
            <a:r>
              <a:rPr sz="2000" spc="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of</a:t>
            </a:r>
            <a:r>
              <a:rPr sz="2000" spc="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2E4E4E"/>
                </a:solidFill>
                <a:latin typeface="Tahoma"/>
                <a:cs typeface="Tahoma"/>
              </a:rPr>
              <a:t>multiple</a:t>
            </a:r>
            <a:r>
              <a:rPr sz="2000" spc="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rows</a:t>
            </a:r>
            <a:r>
              <a:rPr sz="2000" spc="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into</a:t>
            </a:r>
            <a:r>
              <a:rPr sz="2000" spc="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SQL </a:t>
            </a:r>
            <a:r>
              <a:rPr sz="2000" spc="45" dirty="0">
                <a:solidFill>
                  <a:srgbClr val="2E4E4E"/>
                </a:solidFill>
                <a:latin typeface="Tahoma"/>
                <a:cs typeface="Tahoma"/>
              </a:rPr>
              <a:t>database.</a:t>
            </a:r>
            <a:r>
              <a:rPr sz="2000" spc="-8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This</a:t>
            </a:r>
            <a:r>
              <a:rPr sz="2000" spc="-7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2E4E4E"/>
                </a:solidFill>
                <a:latin typeface="Tahoma"/>
                <a:cs typeface="Tahoma"/>
              </a:rPr>
              <a:t>indicates</a:t>
            </a:r>
            <a:r>
              <a:rPr sz="2000" spc="-7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85" dirty="0">
                <a:solidFill>
                  <a:srgbClr val="2E4E4E"/>
                </a:solidFill>
                <a:latin typeface="Tahoma"/>
                <a:cs typeface="Tahoma"/>
              </a:rPr>
              <a:t>correct</a:t>
            </a:r>
            <a:r>
              <a:rPr sz="2000" spc="-7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data</a:t>
            </a:r>
            <a:r>
              <a:rPr sz="2000" spc="-8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E4E4E"/>
                </a:solidFill>
                <a:latin typeface="Tahoma"/>
                <a:cs typeface="Tahoma"/>
              </a:rPr>
              <a:t>flow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throughout</a:t>
            </a:r>
            <a:r>
              <a:rPr sz="2000" spc="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ETL</a:t>
            </a:r>
            <a:r>
              <a:rPr sz="2000" spc="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2E4E4E"/>
                </a:solidFill>
                <a:latin typeface="Tahoma"/>
                <a:cs typeface="Tahoma"/>
              </a:rPr>
              <a:t>process.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EXECUTION</a:t>
            </a:r>
            <a:r>
              <a:rPr spc="170" dirty="0"/>
              <a:t> </a:t>
            </a:r>
            <a:r>
              <a:rPr spc="80" dirty="0"/>
              <a:t>SUCCESS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5503" y="3006641"/>
            <a:ext cx="10039349" cy="45434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8325" y="2755743"/>
            <a:ext cx="5521960" cy="518160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 marR="50165">
              <a:lnSpc>
                <a:spcPts val="9000"/>
              </a:lnSpc>
              <a:spcBef>
                <a:spcPts val="1900"/>
              </a:spcBef>
            </a:pPr>
            <a:r>
              <a:rPr sz="9000" spc="175" dirty="0">
                <a:solidFill>
                  <a:srgbClr val="2E4E4E"/>
                </a:solidFill>
                <a:latin typeface="Tahoma"/>
                <a:cs typeface="Tahoma"/>
              </a:rPr>
              <a:t>SQL</a:t>
            </a:r>
            <a:r>
              <a:rPr sz="9000" spc="-9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9000" spc="100" dirty="0">
                <a:solidFill>
                  <a:srgbClr val="2E4E4E"/>
                </a:solidFill>
                <a:latin typeface="Tahoma"/>
                <a:cs typeface="Tahoma"/>
              </a:rPr>
              <a:t>Query </a:t>
            </a:r>
            <a:r>
              <a:rPr sz="9000" spc="-320" dirty="0">
                <a:solidFill>
                  <a:srgbClr val="2E4E4E"/>
                </a:solidFill>
                <a:latin typeface="Tahoma"/>
                <a:cs typeface="Tahoma"/>
              </a:rPr>
              <a:t>R</a:t>
            </a:r>
            <a:r>
              <a:rPr sz="9000" dirty="0">
                <a:solidFill>
                  <a:srgbClr val="2E4E4E"/>
                </a:solidFill>
                <a:latin typeface="Tahoma"/>
                <a:cs typeface="Tahoma"/>
              </a:rPr>
              <a:t>e</a:t>
            </a:r>
            <a:r>
              <a:rPr sz="9000" spc="5" dirty="0">
                <a:solidFill>
                  <a:srgbClr val="2E4E4E"/>
                </a:solidFill>
                <a:latin typeface="Tahoma"/>
                <a:cs typeface="Tahoma"/>
              </a:rPr>
              <a:t>s</a:t>
            </a:r>
            <a:r>
              <a:rPr sz="9000" spc="-15" dirty="0">
                <a:solidFill>
                  <a:srgbClr val="2E4E4E"/>
                </a:solidFill>
                <a:latin typeface="Tahoma"/>
                <a:cs typeface="Tahoma"/>
              </a:rPr>
              <a:t>u</a:t>
            </a:r>
            <a:r>
              <a:rPr sz="9000" spc="-35" dirty="0">
                <a:solidFill>
                  <a:srgbClr val="2E4E4E"/>
                </a:solidFill>
                <a:latin typeface="Tahoma"/>
                <a:cs typeface="Tahoma"/>
              </a:rPr>
              <a:t>l</a:t>
            </a:r>
            <a:r>
              <a:rPr sz="9000" spc="15" dirty="0">
                <a:solidFill>
                  <a:srgbClr val="2E4E4E"/>
                </a:solidFill>
                <a:latin typeface="Tahoma"/>
                <a:cs typeface="Tahoma"/>
              </a:rPr>
              <a:t>t</a:t>
            </a:r>
            <a:r>
              <a:rPr sz="9000" spc="250" dirty="0">
                <a:solidFill>
                  <a:srgbClr val="2E4E4E"/>
                </a:solidFill>
                <a:latin typeface="Tahoma"/>
                <a:cs typeface="Tahoma"/>
              </a:rPr>
              <a:t>s</a:t>
            </a:r>
            <a:endParaRPr sz="9000">
              <a:latin typeface="Tahoma"/>
              <a:cs typeface="Tahoma"/>
            </a:endParaRPr>
          </a:p>
          <a:p>
            <a:pPr marL="12700" marR="5080">
              <a:lnSpc>
                <a:spcPts val="2320"/>
              </a:lnSpc>
              <a:spcBef>
                <a:spcPts val="2270"/>
              </a:spcBef>
            </a:pP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This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2E4E4E"/>
                </a:solidFill>
                <a:latin typeface="Tahoma"/>
                <a:cs typeface="Tahoma"/>
              </a:rPr>
              <a:t>section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highlights</a:t>
            </a:r>
            <a:r>
              <a:rPr sz="2000" spc="-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importance</a:t>
            </a:r>
            <a:r>
              <a:rPr sz="2000" spc="-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25" dirty="0">
                <a:solidFill>
                  <a:srgbClr val="2E4E4E"/>
                </a:solidFill>
                <a:latin typeface="Tahoma"/>
                <a:cs typeface="Tahoma"/>
              </a:rPr>
              <a:t>of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validating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SQL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data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after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extraction.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Ensure </a:t>
            </a:r>
            <a:r>
              <a:rPr sz="2000" spc="95" dirty="0">
                <a:solidFill>
                  <a:srgbClr val="2E4E4E"/>
                </a:solidFill>
                <a:latin typeface="Tahoma"/>
                <a:cs typeface="Tahoma"/>
              </a:rPr>
              <a:t>accuracy</a:t>
            </a:r>
            <a:r>
              <a:rPr sz="2000" spc="-7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85" dirty="0">
                <a:solidFill>
                  <a:srgbClr val="2E4E4E"/>
                </a:solidFill>
                <a:latin typeface="Tahoma"/>
                <a:cs typeface="Tahoma"/>
              </a:rPr>
              <a:t>by</a:t>
            </a:r>
            <a:r>
              <a:rPr sz="2000" spc="-7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reviewing</a:t>
            </a:r>
            <a:r>
              <a:rPr sz="2000" spc="-7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2E4E4E"/>
                </a:solidFill>
                <a:latin typeface="Tahoma"/>
                <a:cs typeface="Tahoma"/>
              </a:rPr>
              <a:t>query</a:t>
            </a:r>
            <a:r>
              <a:rPr sz="2000" spc="-7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2E4E4E"/>
                </a:solidFill>
                <a:latin typeface="Tahoma"/>
                <a:cs typeface="Tahoma"/>
              </a:rPr>
              <a:t>results</a:t>
            </a:r>
            <a:r>
              <a:rPr sz="2000" spc="-7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to</a:t>
            </a:r>
            <a:r>
              <a:rPr sz="2000" spc="-7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confirm </a:t>
            </a:r>
            <a:r>
              <a:rPr sz="2000" spc="80" dirty="0">
                <a:solidFill>
                  <a:srgbClr val="2E4E4E"/>
                </a:solidFill>
                <a:latin typeface="Tahoma"/>
                <a:cs typeface="Tahoma"/>
              </a:rPr>
              <a:t>successful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data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loads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into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2E4E4E"/>
                </a:solidFill>
                <a:latin typeface="Tahoma"/>
                <a:cs typeface="Tahoma"/>
              </a:rPr>
              <a:t>database.</a:t>
            </a:r>
            <a:endParaRPr sz="2000">
              <a:latin typeface="Tahoma"/>
              <a:cs typeface="Tahoma"/>
            </a:endParaRPr>
          </a:p>
          <a:p>
            <a:pPr marL="12700" marR="5080" indent="-11430">
              <a:lnSpc>
                <a:spcPts val="2330"/>
              </a:lnSpc>
              <a:spcBef>
                <a:spcPts val="10"/>
              </a:spcBef>
              <a:buSzPct val="77500"/>
              <a:buChar char="•"/>
              <a:tabLst>
                <a:tab pos="102870" algn="l"/>
              </a:tabLst>
            </a:pP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	Data</a:t>
            </a:r>
            <a:r>
              <a:rPr sz="2000" spc="-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was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2E4E4E"/>
                </a:solidFill>
                <a:latin typeface="Tahoma"/>
                <a:cs typeface="Tahoma"/>
              </a:rPr>
              <a:t>validated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in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Azure</a:t>
            </a:r>
            <a:r>
              <a:rPr sz="2000" spc="-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SQL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85" dirty="0">
                <a:solidFill>
                  <a:srgbClr val="2E4E4E"/>
                </a:solidFill>
                <a:latin typeface="Tahoma"/>
                <a:cs typeface="Tahoma"/>
              </a:rPr>
              <a:t>by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running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queries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85" dirty="0">
                <a:solidFill>
                  <a:srgbClr val="2E4E4E"/>
                </a:solidFill>
                <a:latin typeface="Tahoma"/>
                <a:cs typeface="Tahoma"/>
              </a:rPr>
              <a:t>such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as</a:t>
            </a:r>
            <a:r>
              <a:rPr sz="2000" spc="-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SELECT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COUNT(*)</a:t>
            </a:r>
            <a:r>
              <a:rPr sz="2000" spc="-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and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SELECT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TOP(20).</a:t>
            </a:r>
            <a:r>
              <a:rPr sz="2000" spc="-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This</a:t>
            </a:r>
            <a:r>
              <a:rPr sz="2000" spc="-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confirms</a:t>
            </a:r>
            <a:r>
              <a:rPr sz="2000" spc="-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2E4E4E"/>
                </a:solidFill>
                <a:latin typeface="Tahoma"/>
                <a:cs typeface="Tahoma"/>
              </a:rPr>
              <a:t>successful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2E4E4E"/>
                </a:solidFill>
                <a:latin typeface="Tahoma"/>
                <a:cs typeface="Tahoma"/>
              </a:rPr>
              <a:t>data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insertion.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SQL</a:t>
            </a:r>
            <a:r>
              <a:rPr spc="-55" dirty="0"/>
              <a:t> </a:t>
            </a:r>
            <a:r>
              <a:rPr spc="-25" dirty="0"/>
              <a:t>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8157" y="2959052"/>
            <a:ext cx="10020299" cy="47148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8325" y="2755743"/>
            <a:ext cx="5549265" cy="602932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 marR="568325" algn="just">
              <a:lnSpc>
                <a:spcPts val="9000"/>
              </a:lnSpc>
              <a:spcBef>
                <a:spcPts val="1900"/>
              </a:spcBef>
            </a:pPr>
            <a:r>
              <a:rPr sz="9000" spc="-10" dirty="0">
                <a:solidFill>
                  <a:srgbClr val="2E4E4E"/>
                </a:solidFill>
                <a:latin typeface="Tahoma"/>
                <a:cs typeface="Tahoma"/>
              </a:rPr>
              <a:t>Importing </a:t>
            </a:r>
            <a:r>
              <a:rPr sz="9000" spc="-125" dirty="0">
                <a:solidFill>
                  <a:srgbClr val="2E4E4E"/>
                </a:solidFill>
                <a:latin typeface="Tahoma"/>
                <a:cs typeface="Tahoma"/>
              </a:rPr>
              <a:t>Data</a:t>
            </a:r>
            <a:r>
              <a:rPr sz="9000" spc="-5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9000" spc="-20" dirty="0">
                <a:solidFill>
                  <a:srgbClr val="2E4E4E"/>
                </a:solidFill>
                <a:latin typeface="Tahoma"/>
                <a:cs typeface="Tahoma"/>
              </a:rPr>
              <a:t>from </a:t>
            </a:r>
            <a:r>
              <a:rPr sz="9000" spc="150" dirty="0">
                <a:solidFill>
                  <a:srgbClr val="2E4E4E"/>
                </a:solidFill>
                <a:latin typeface="Tahoma"/>
                <a:cs typeface="Tahoma"/>
              </a:rPr>
              <a:t>SQL</a:t>
            </a:r>
            <a:endParaRPr sz="9000">
              <a:latin typeface="Tahoma"/>
              <a:cs typeface="Tahoma"/>
            </a:endParaRPr>
          </a:p>
          <a:p>
            <a:pPr marL="12700" marR="5080">
              <a:lnSpc>
                <a:spcPts val="2320"/>
              </a:lnSpc>
              <a:spcBef>
                <a:spcPts val="2265"/>
              </a:spcBef>
            </a:pPr>
            <a:r>
              <a:rPr sz="2000" spc="-145" dirty="0">
                <a:solidFill>
                  <a:srgbClr val="2E4E4E"/>
                </a:solidFill>
                <a:latin typeface="Tahoma"/>
                <a:cs typeface="Tahoma"/>
              </a:rPr>
              <a:t>In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this</a:t>
            </a:r>
            <a:r>
              <a:rPr sz="2000" spc="-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section,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we</a:t>
            </a:r>
            <a:r>
              <a:rPr sz="2000" spc="-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will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95" dirty="0">
                <a:solidFill>
                  <a:srgbClr val="2E4E4E"/>
                </a:solidFill>
                <a:latin typeface="Tahoma"/>
                <a:cs typeface="Tahoma"/>
              </a:rPr>
              <a:t>discuss</a:t>
            </a:r>
            <a:r>
              <a:rPr sz="2000" spc="-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how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to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seamlessly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2E4E4E"/>
                </a:solidFill>
                <a:latin typeface="Tahoma"/>
                <a:cs typeface="Tahoma"/>
              </a:rPr>
              <a:t>import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data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from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SQL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database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into</a:t>
            </a:r>
            <a:r>
              <a:rPr sz="2000" spc="-4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Power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45" dirty="0">
                <a:solidFill>
                  <a:srgbClr val="2E4E4E"/>
                </a:solidFill>
                <a:latin typeface="Tahoma"/>
                <a:cs typeface="Tahoma"/>
              </a:rPr>
              <a:t>BI</a:t>
            </a:r>
            <a:r>
              <a:rPr sz="2000" spc="-4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for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effective</a:t>
            </a:r>
            <a:r>
              <a:rPr sz="2000" spc="-4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data</a:t>
            </a:r>
            <a:r>
              <a:rPr sz="200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visualization 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and</a:t>
            </a:r>
            <a:r>
              <a:rPr sz="2000" spc="-10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reporting.</a:t>
            </a:r>
            <a:endParaRPr sz="2000">
              <a:latin typeface="Tahoma"/>
              <a:cs typeface="Tahoma"/>
            </a:endParaRPr>
          </a:p>
          <a:p>
            <a:pPr marL="12700" marR="97790" indent="-11430">
              <a:lnSpc>
                <a:spcPts val="2330"/>
              </a:lnSpc>
              <a:spcBef>
                <a:spcPts val="15"/>
              </a:spcBef>
              <a:buSzPct val="77500"/>
              <a:buChar char="•"/>
              <a:tabLst>
                <a:tab pos="102870" algn="l"/>
              </a:tabLst>
            </a:pP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	Power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45" dirty="0">
                <a:solidFill>
                  <a:srgbClr val="2E4E4E"/>
                </a:solidFill>
                <a:latin typeface="Tahoma"/>
                <a:cs typeface="Tahoma"/>
              </a:rPr>
              <a:t>BI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was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95" dirty="0">
                <a:solidFill>
                  <a:srgbClr val="2E4E4E"/>
                </a:solidFill>
                <a:latin typeface="Tahoma"/>
                <a:cs typeface="Tahoma"/>
              </a:rPr>
              <a:t>connected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to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SQL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Database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table.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SentimentOutput</a:t>
            </a:r>
            <a:r>
              <a:rPr sz="2000" spc="-4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table</a:t>
            </a:r>
            <a:r>
              <a:rPr sz="2000" spc="-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was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imported</a:t>
            </a:r>
            <a:r>
              <a:rPr sz="2000" spc="-2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successfully</a:t>
            </a:r>
            <a:r>
              <a:rPr sz="2000" spc="-2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for</a:t>
            </a:r>
            <a:r>
              <a:rPr sz="2000" spc="-2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further</a:t>
            </a:r>
            <a:r>
              <a:rPr sz="2000" spc="-1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visualization.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68325" y="2267135"/>
            <a:ext cx="11982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POWER</a:t>
            </a:r>
            <a:r>
              <a:rPr spc="-60" dirty="0"/>
              <a:t> </a:t>
            </a:r>
            <a:r>
              <a:rPr spc="-85" dirty="0"/>
              <a:t>BI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7403" y="450924"/>
            <a:ext cx="9229724" cy="40862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7403" y="4784505"/>
            <a:ext cx="9229724" cy="4962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8325" y="2755743"/>
            <a:ext cx="5385435" cy="400050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 marR="1159510">
              <a:lnSpc>
                <a:spcPts val="9000"/>
              </a:lnSpc>
              <a:spcBef>
                <a:spcPts val="1900"/>
              </a:spcBef>
            </a:pPr>
            <a:r>
              <a:rPr sz="9000" spc="-305" dirty="0">
                <a:solidFill>
                  <a:srgbClr val="2E4E4E"/>
                </a:solidFill>
                <a:latin typeface="Tahoma"/>
                <a:cs typeface="Tahoma"/>
              </a:rPr>
              <a:t>P</a:t>
            </a:r>
            <a:r>
              <a:rPr sz="9000" spc="-204" dirty="0">
                <a:solidFill>
                  <a:srgbClr val="2E4E4E"/>
                </a:solidFill>
                <a:latin typeface="Tahoma"/>
                <a:cs typeface="Tahoma"/>
              </a:rPr>
              <a:t>o</a:t>
            </a:r>
            <a:r>
              <a:rPr sz="9000" spc="-240" dirty="0">
                <a:solidFill>
                  <a:srgbClr val="2E4E4E"/>
                </a:solidFill>
                <a:latin typeface="Tahoma"/>
                <a:cs typeface="Tahoma"/>
              </a:rPr>
              <a:t>w</a:t>
            </a:r>
            <a:r>
              <a:rPr sz="9000" spc="-45" dirty="0">
                <a:solidFill>
                  <a:srgbClr val="2E4E4E"/>
                </a:solidFill>
                <a:latin typeface="Tahoma"/>
                <a:cs typeface="Tahoma"/>
              </a:rPr>
              <a:t>e</a:t>
            </a:r>
            <a:r>
              <a:rPr sz="9000" spc="204" dirty="0">
                <a:solidFill>
                  <a:srgbClr val="2E4E4E"/>
                </a:solidFill>
                <a:latin typeface="Tahoma"/>
                <a:cs typeface="Tahoma"/>
              </a:rPr>
              <a:t>r</a:t>
            </a:r>
            <a:r>
              <a:rPr sz="9000" spc="-9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9000" spc="-750" dirty="0">
                <a:solidFill>
                  <a:srgbClr val="2E4E4E"/>
                </a:solidFill>
                <a:latin typeface="Tahoma"/>
                <a:cs typeface="Tahoma"/>
              </a:rPr>
              <a:t>BI </a:t>
            </a:r>
            <a:r>
              <a:rPr sz="9000" spc="140" dirty="0">
                <a:solidFill>
                  <a:srgbClr val="2E4E4E"/>
                </a:solidFill>
                <a:latin typeface="Tahoma"/>
                <a:cs typeface="Tahoma"/>
              </a:rPr>
              <a:t>Charts</a:t>
            </a:r>
            <a:endParaRPr sz="9000">
              <a:latin typeface="Tahoma"/>
              <a:cs typeface="Tahoma"/>
            </a:endParaRPr>
          </a:p>
          <a:p>
            <a:pPr marL="12700" marR="5080">
              <a:lnSpc>
                <a:spcPts val="2320"/>
              </a:lnSpc>
              <a:spcBef>
                <a:spcPts val="2270"/>
              </a:spcBef>
            </a:pP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This</a:t>
            </a:r>
            <a:r>
              <a:rPr sz="2000" spc="-8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2E4E4E"/>
                </a:solidFill>
                <a:latin typeface="Tahoma"/>
                <a:cs typeface="Tahoma"/>
              </a:rPr>
              <a:t>section</a:t>
            </a:r>
            <a:r>
              <a:rPr sz="2000" spc="-7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2E4E4E"/>
                </a:solidFill>
                <a:latin typeface="Tahoma"/>
                <a:cs typeface="Tahoma"/>
              </a:rPr>
              <a:t>showcases</a:t>
            </a:r>
            <a:r>
              <a:rPr sz="2000" spc="-7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7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b="1" spc="85" dirty="0">
                <a:solidFill>
                  <a:srgbClr val="2E4E4E"/>
                </a:solidFill>
                <a:latin typeface="Trebuchet MS"/>
                <a:cs typeface="Trebuchet MS"/>
              </a:rPr>
              <a:t>dynamic</a:t>
            </a:r>
            <a:r>
              <a:rPr sz="2000" b="1" spc="-105" dirty="0">
                <a:solidFill>
                  <a:srgbClr val="2E4E4E"/>
                </a:solidFill>
                <a:latin typeface="Trebuchet MS"/>
                <a:cs typeface="Trebuchet MS"/>
              </a:rPr>
              <a:t> </a:t>
            </a:r>
            <a:r>
              <a:rPr sz="2000" b="1" spc="50" dirty="0">
                <a:solidFill>
                  <a:srgbClr val="2E4E4E"/>
                </a:solidFill>
                <a:latin typeface="Trebuchet MS"/>
                <a:cs typeface="Trebuchet MS"/>
              </a:rPr>
              <a:t>bar</a:t>
            </a:r>
            <a:r>
              <a:rPr sz="2000" b="1" spc="-110" dirty="0">
                <a:solidFill>
                  <a:srgbClr val="2E4E4E"/>
                </a:solidFill>
                <a:latin typeface="Trebuchet MS"/>
                <a:cs typeface="Trebuchet MS"/>
              </a:rPr>
              <a:t> </a:t>
            </a:r>
            <a:r>
              <a:rPr sz="2000" b="1" spc="55" dirty="0">
                <a:solidFill>
                  <a:srgbClr val="2E4E4E"/>
                </a:solidFill>
                <a:latin typeface="Trebuchet MS"/>
                <a:cs typeface="Trebuchet MS"/>
              </a:rPr>
              <a:t>and </a:t>
            </a:r>
            <a:r>
              <a:rPr sz="2000" b="1" dirty="0">
                <a:solidFill>
                  <a:srgbClr val="2E4E4E"/>
                </a:solidFill>
                <a:latin typeface="Trebuchet MS"/>
                <a:cs typeface="Trebuchet MS"/>
              </a:rPr>
              <a:t>pie</a:t>
            </a:r>
            <a:r>
              <a:rPr sz="2000" b="1" spc="-95" dirty="0">
                <a:solidFill>
                  <a:srgbClr val="2E4E4E"/>
                </a:solidFill>
                <a:latin typeface="Trebuchet MS"/>
                <a:cs typeface="Trebuchet MS"/>
              </a:rPr>
              <a:t> </a:t>
            </a:r>
            <a:r>
              <a:rPr sz="2000" b="1" spc="70" dirty="0">
                <a:solidFill>
                  <a:srgbClr val="2E4E4E"/>
                </a:solidFill>
                <a:latin typeface="Trebuchet MS"/>
                <a:cs typeface="Trebuchet MS"/>
              </a:rPr>
              <a:t>charts</a:t>
            </a:r>
            <a:r>
              <a:rPr sz="2000" b="1" spc="-30" dirty="0">
                <a:solidFill>
                  <a:srgbClr val="2E4E4E"/>
                </a:solidFill>
                <a:latin typeface="Trebuchet MS"/>
                <a:cs typeface="Trebuchet MS"/>
              </a:rPr>
              <a:t> </a:t>
            </a:r>
            <a:r>
              <a:rPr sz="2000" spc="45" dirty="0">
                <a:solidFill>
                  <a:srgbClr val="2E4E4E"/>
                </a:solidFill>
                <a:latin typeface="Tahoma"/>
                <a:cs typeface="Tahoma"/>
              </a:rPr>
              <a:t>generated</a:t>
            </a:r>
            <a:r>
              <a:rPr sz="2000" spc="-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in</a:t>
            </a:r>
            <a:r>
              <a:rPr sz="2000" spc="-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Power</a:t>
            </a:r>
            <a:r>
              <a:rPr sz="2000" spc="-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75" dirty="0">
                <a:solidFill>
                  <a:srgbClr val="2E4E4E"/>
                </a:solidFill>
                <a:latin typeface="Tahoma"/>
                <a:cs typeface="Tahoma"/>
              </a:rPr>
              <a:t>BI,</a:t>
            </a:r>
            <a:r>
              <a:rPr sz="2000" spc="-5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illustrating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key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sentiment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analysis</a:t>
            </a:r>
            <a:r>
              <a:rPr sz="2000" spc="-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metrics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2E4E4E"/>
                </a:solidFill>
                <a:latin typeface="Tahoma"/>
                <a:cs typeface="Tahoma"/>
              </a:rPr>
              <a:t>and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 insights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from</a:t>
            </a:r>
            <a:r>
              <a:rPr sz="2000" spc="-1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1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data.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VISUALS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03055" y="3567473"/>
            <a:ext cx="9829799" cy="28193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8325" y="2755743"/>
            <a:ext cx="5508625" cy="514350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 marR="1021080">
              <a:lnSpc>
                <a:spcPts val="9000"/>
              </a:lnSpc>
              <a:spcBef>
                <a:spcPts val="1900"/>
              </a:spcBef>
            </a:pPr>
            <a:r>
              <a:rPr sz="9000" spc="-305" dirty="0">
                <a:solidFill>
                  <a:srgbClr val="2E4E4E"/>
                </a:solidFill>
                <a:latin typeface="Tahoma"/>
                <a:cs typeface="Tahoma"/>
              </a:rPr>
              <a:t>P</a:t>
            </a:r>
            <a:r>
              <a:rPr sz="9000" spc="-204" dirty="0">
                <a:solidFill>
                  <a:srgbClr val="2E4E4E"/>
                </a:solidFill>
                <a:latin typeface="Tahoma"/>
                <a:cs typeface="Tahoma"/>
              </a:rPr>
              <a:t>o</a:t>
            </a:r>
            <a:r>
              <a:rPr sz="9000" spc="-240" dirty="0">
                <a:solidFill>
                  <a:srgbClr val="2E4E4E"/>
                </a:solidFill>
                <a:latin typeface="Tahoma"/>
                <a:cs typeface="Tahoma"/>
              </a:rPr>
              <a:t>w</a:t>
            </a:r>
            <a:r>
              <a:rPr sz="9000" spc="-45" dirty="0">
                <a:solidFill>
                  <a:srgbClr val="2E4E4E"/>
                </a:solidFill>
                <a:latin typeface="Tahoma"/>
                <a:cs typeface="Tahoma"/>
              </a:rPr>
              <a:t>e</a:t>
            </a:r>
            <a:r>
              <a:rPr sz="9000" spc="204" dirty="0">
                <a:solidFill>
                  <a:srgbClr val="2E4E4E"/>
                </a:solidFill>
                <a:latin typeface="Tahoma"/>
                <a:cs typeface="Tahoma"/>
              </a:rPr>
              <a:t>r</a:t>
            </a:r>
            <a:r>
              <a:rPr sz="9000" spc="-9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9000" spc="-750" dirty="0">
                <a:solidFill>
                  <a:srgbClr val="2E4E4E"/>
                </a:solidFill>
                <a:latin typeface="Tahoma"/>
                <a:cs typeface="Tahoma"/>
              </a:rPr>
              <a:t>BI </a:t>
            </a:r>
            <a:r>
              <a:rPr sz="9000" dirty="0">
                <a:solidFill>
                  <a:srgbClr val="2E4E4E"/>
                </a:solidFill>
                <a:latin typeface="Tahoma"/>
                <a:cs typeface="Tahoma"/>
              </a:rPr>
              <a:t>Visuals</a:t>
            </a:r>
            <a:r>
              <a:rPr sz="9000" spc="-79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9000" spc="785" dirty="0">
                <a:solidFill>
                  <a:srgbClr val="2E4E4E"/>
                </a:solidFill>
                <a:latin typeface="Tahoma"/>
                <a:cs typeface="Tahoma"/>
              </a:rPr>
              <a:t>– </a:t>
            </a:r>
            <a:r>
              <a:rPr sz="9000" spc="-640" dirty="0">
                <a:solidFill>
                  <a:srgbClr val="2E4E4E"/>
                </a:solidFill>
                <a:latin typeface="Tahoma"/>
                <a:cs typeface="Tahoma"/>
              </a:rPr>
              <a:t>T</a:t>
            </a:r>
            <a:r>
              <a:rPr sz="9000" spc="75" dirty="0">
                <a:solidFill>
                  <a:srgbClr val="2E4E4E"/>
                </a:solidFill>
                <a:latin typeface="Tahoma"/>
                <a:cs typeface="Tahoma"/>
              </a:rPr>
              <a:t>a</a:t>
            </a:r>
            <a:r>
              <a:rPr sz="9000" spc="100" dirty="0">
                <a:solidFill>
                  <a:srgbClr val="2E4E4E"/>
                </a:solidFill>
                <a:latin typeface="Tahoma"/>
                <a:cs typeface="Tahoma"/>
              </a:rPr>
              <a:t>b</a:t>
            </a:r>
            <a:r>
              <a:rPr sz="9000" spc="55" dirty="0">
                <a:solidFill>
                  <a:srgbClr val="2E4E4E"/>
                </a:solidFill>
                <a:latin typeface="Tahoma"/>
                <a:cs typeface="Tahoma"/>
              </a:rPr>
              <a:t>l</a:t>
            </a:r>
            <a:r>
              <a:rPr sz="9000" spc="340" dirty="0">
                <a:solidFill>
                  <a:srgbClr val="2E4E4E"/>
                </a:solidFill>
                <a:latin typeface="Tahoma"/>
                <a:cs typeface="Tahoma"/>
              </a:rPr>
              <a:t>e</a:t>
            </a:r>
            <a:endParaRPr sz="9000">
              <a:latin typeface="Tahoma"/>
              <a:cs typeface="Tahoma"/>
            </a:endParaRPr>
          </a:p>
          <a:p>
            <a:pPr marL="12700" marR="5080">
              <a:lnSpc>
                <a:spcPts val="2320"/>
              </a:lnSpc>
              <a:spcBef>
                <a:spcPts val="2265"/>
              </a:spcBef>
            </a:pP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This</a:t>
            </a:r>
            <a:r>
              <a:rPr sz="2000" spc="-1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2E4E4E"/>
                </a:solidFill>
                <a:latin typeface="Tahoma"/>
                <a:cs typeface="Tahoma"/>
              </a:rPr>
              <a:t>section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illustrates</a:t>
            </a:r>
            <a:r>
              <a:rPr sz="2000" spc="-1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2E4E4E"/>
                </a:solidFill>
                <a:latin typeface="Trebuchet MS"/>
                <a:cs typeface="Trebuchet MS"/>
              </a:rPr>
              <a:t>finalized</a:t>
            </a:r>
            <a:r>
              <a:rPr sz="2000" b="1" spc="-50" dirty="0">
                <a:solidFill>
                  <a:srgbClr val="2E4E4E"/>
                </a:solidFill>
                <a:latin typeface="Trebuchet MS"/>
                <a:cs typeface="Trebuchet MS"/>
              </a:rPr>
              <a:t> </a:t>
            </a:r>
            <a:r>
              <a:rPr sz="2000" b="1" spc="80" dirty="0">
                <a:solidFill>
                  <a:srgbClr val="2E4E4E"/>
                </a:solidFill>
                <a:latin typeface="Trebuchet MS"/>
                <a:cs typeface="Trebuchet MS"/>
              </a:rPr>
              <a:t>data</a:t>
            </a:r>
            <a:r>
              <a:rPr sz="2000" b="1" spc="-50" dirty="0">
                <a:solidFill>
                  <a:srgbClr val="2E4E4E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2E4E4E"/>
                </a:solidFill>
                <a:latin typeface="Trebuchet MS"/>
                <a:cs typeface="Trebuchet MS"/>
              </a:rPr>
              <a:t>table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in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Power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75" dirty="0">
                <a:solidFill>
                  <a:srgbClr val="2E4E4E"/>
                </a:solidFill>
                <a:latin typeface="Tahoma"/>
                <a:cs typeface="Tahoma"/>
              </a:rPr>
              <a:t>BI,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2E4E4E"/>
                </a:solidFill>
                <a:latin typeface="Tahoma"/>
                <a:cs typeface="Tahoma"/>
              </a:rPr>
              <a:t>showcasing</a:t>
            </a:r>
            <a:r>
              <a:rPr sz="200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key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2E4E4E"/>
                </a:solidFill>
                <a:latin typeface="Tahoma"/>
                <a:cs typeface="Tahoma"/>
              </a:rPr>
              <a:t>metrics</a:t>
            </a:r>
            <a:r>
              <a:rPr sz="2000" spc="-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40" dirty="0">
                <a:solidFill>
                  <a:srgbClr val="2E4E4E"/>
                </a:solidFill>
                <a:latin typeface="Tahoma"/>
                <a:cs typeface="Tahoma"/>
              </a:rPr>
              <a:t>and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insights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derived</a:t>
            </a:r>
            <a:r>
              <a:rPr sz="2000" spc="-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from</a:t>
            </a:r>
            <a:r>
              <a:rPr sz="2000" spc="-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2000" spc="-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2E4E4E"/>
                </a:solidFill>
                <a:latin typeface="Tahoma"/>
                <a:cs typeface="Tahoma"/>
              </a:rPr>
              <a:t>ETL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95" dirty="0">
                <a:solidFill>
                  <a:srgbClr val="2E4E4E"/>
                </a:solidFill>
                <a:latin typeface="Tahoma"/>
                <a:cs typeface="Tahoma"/>
              </a:rPr>
              <a:t>process</a:t>
            </a:r>
            <a:r>
              <a:rPr sz="2000" spc="-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E4E4E"/>
                </a:solidFill>
                <a:latin typeface="Tahoma"/>
                <a:cs typeface="Tahoma"/>
              </a:rPr>
              <a:t>for </a:t>
            </a:r>
            <a:r>
              <a:rPr sz="2000" spc="55" dirty="0">
                <a:solidFill>
                  <a:srgbClr val="2E4E4E"/>
                </a:solidFill>
                <a:latin typeface="Tahoma"/>
                <a:cs typeface="Tahoma"/>
              </a:rPr>
              <a:t>effective</a:t>
            </a:r>
            <a:r>
              <a:rPr sz="2000" spc="-9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2E4E4E"/>
                </a:solidFill>
                <a:latin typeface="Tahoma"/>
                <a:cs typeface="Tahoma"/>
              </a:rPr>
              <a:t>analysis.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FINAL</a:t>
            </a:r>
            <a:r>
              <a:rPr spc="-70" dirty="0"/>
              <a:t> </a:t>
            </a:r>
            <a:r>
              <a:rPr spc="-20" dirty="0"/>
              <a:t>TABLE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29550" y="19050"/>
            <a:ext cx="10428605" cy="10267950"/>
          </a:xfrm>
          <a:custGeom>
            <a:avLst/>
            <a:gdLst/>
            <a:ahLst/>
            <a:cxnLst/>
            <a:rect l="l" t="t" r="r" b="b"/>
            <a:pathLst>
              <a:path w="10428605" h="10267950">
                <a:moveTo>
                  <a:pt x="10428385" y="10267949"/>
                </a:moveTo>
                <a:lnTo>
                  <a:pt x="0" y="10267949"/>
                </a:lnTo>
                <a:lnTo>
                  <a:pt x="0" y="0"/>
                </a:lnTo>
                <a:lnTo>
                  <a:pt x="10428385" y="0"/>
                </a:lnTo>
                <a:lnTo>
                  <a:pt x="10428385" y="10267949"/>
                </a:lnTo>
                <a:close/>
              </a:path>
            </a:pathLst>
          </a:custGeom>
          <a:solidFill>
            <a:srgbClr val="2E4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2792" y="322727"/>
            <a:ext cx="4714874" cy="2028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98849" y="2600843"/>
            <a:ext cx="5219699" cy="22193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53439" y="4977637"/>
            <a:ext cx="5267324" cy="25241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94323" y="7654768"/>
            <a:ext cx="5219699" cy="244792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0732" y="73794"/>
            <a:ext cx="5492750" cy="1369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800" spc="114" dirty="0"/>
              <a:t>Conclusion</a:t>
            </a:r>
            <a:endParaRPr sz="8800"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8785" y="4977637"/>
            <a:ext cx="74673" cy="7467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8785" y="5266998"/>
            <a:ext cx="74673" cy="7467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8785" y="5845721"/>
            <a:ext cx="74673" cy="7467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8785" y="6424444"/>
            <a:ext cx="74673" cy="7467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8785" y="7003167"/>
            <a:ext cx="74673" cy="7467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70732" y="2802566"/>
            <a:ext cx="5408295" cy="5903539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2280"/>
              </a:lnSpc>
              <a:spcBef>
                <a:spcPts val="235"/>
              </a:spcBef>
            </a:pP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This</a:t>
            </a:r>
            <a:r>
              <a:rPr sz="1950" spc="-7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130" dirty="0">
                <a:solidFill>
                  <a:srgbClr val="2E4E4E"/>
                </a:solidFill>
                <a:latin typeface="Tahoma"/>
                <a:cs typeface="Tahoma"/>
              </a:rPr>
              <a:t>end-</a:t>
            </a:r>
            <a:r>
              <a:rPr sz="1950" spc="150" dirty="0">
                <a:solidFill>
                  <a:srgbClr val="2E4E4E"/>
                </a:solidFill>
                <a:latin typeface="Tahoma"/>
                <a:cs typeface="Tahoma"/>
              </a:rPr>
              <a:t>to-</a:t>
            </a:r>
            <a:r>
              <a:rPr sz="1950" spc="85" dirty="0">
                <a:solidFill>
                  <a:srgbClr val="2E4E4E"/>
                </a:solidFill>
                <a:latin typeface="Tahoma"/>
                <a:cs typeface="Tahoma"/>
              </a:rPr>
              <a:t>end</a:t>
            </a:r>
            <a:r>
              <a:rPr sz="195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60" dirty="0">
                <a:solidFill>
                  <a:srgbClr val="2E4E4E"/>
                </a:solidFill>
                <a:latin typeface="Tahoma"/>
                <a:cs typeface="Tahoma"/>
              </a:rPr>
              <a:t>pipeline</a:t>
            </a:r>
            <a:r>
              <a:rPr sz="195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70" dirty="0">
                <a:solidFill>
                  <a:srgbClr val="2E4E4E"/>
                </a:solidFill>
                <a:latin typeface="Tahoma"/>
                <a:cs typeface="Tahoma"/>
              </a:rPr>
              <a:t>demonstrates</a:t>
            </a:r>
            <a:r>
              <a:rPr sz="1950" spc="-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45" dirty="0">
                <a:solidFill>
                  <a:srgbClr val="2E4E4E"/>
                </a:solidFill>
                <a:latin typeface="Tahoma"/>
                <a:cs typeface="Tahoma"/>
              </a:rPr>
              <a:t>data 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ingestion,</a:t>
            </a:r>
            <a:r>
              <a:rPr sz="1950" spc="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processing,</a:t>
            </a:r>
            <a:r>
              <a:rPr sz="1950" spc="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storage,</a:t>
            </a:r>
            <a:r>
              <a:rPr sz="1950" spc="65" dirty="0">
                <a:solidFill>
                  <a:srgbClr val="2E4E4E"/>
                </a:solidFill>
                <a:latin typeface="Tahoma"/>
                <a:cs typeface="Tahoma"/>
              </a:rPr>
              <a:t> and </a:t>
            </a:r>
            <a:r>
              <a:rPr sz="1950" spc="-10" dirty="0">
                <a:solidFill>
                  <a:srgbClr val="2E4E4E"/>
                </a:solidFill>
                <a:latin typeface="Tahoma"/>
                <a:cs typeface="Tahoma"/>
              </a:rPr>
              <a:t>visualization 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using</a:t>
            </a:r>
            <a:r>
              <a:rPr sz="1950" spc="6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Azure</a:t>
            </a:r>
            <a:r>
              <a:rPr sz="1950" spc="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services.</a:t>
            </a:r>
            <a:r>
              <a:rPr sz="1950" spc="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The</a:t>
            </a:r>
            <a:r>
              <a:rPr sz="1950" spc="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workflow</a:t>
            </a:r>
            <a:r>
              <a:rPr sz="1950" spc="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50" dirty="0">
                <a:solidFill>
                  <a:srgbClr val="2E4E4E"/>
                </a:solidFill>
                <a:latin typeface="Tahoma"/>
                <a:cs typeface="Tahoma"/>
              </a:rPr>
              <a:t>is</a:t>
            </a:r>
            <a:r>
              <a:rPr sz="1950" spc="6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55" dirty="0">
                <a:solidFill>
                  <a:srgbClr val="2E4E4E"/>
                </a:solidFill>
                <a:latin typeface="Tahoma"/>
                <a:cs typeface="Tahoma"/>
              </a:rPr>
              <a:t>scalable </a:t>
            </a:r>
            <a:r>
              <a:rPr sz="1950" spc="65" dirty="0">
                <a:solidFill>
                  <a:srgbClr val="2E4E4E"/>
                </a:solidFill>
                <a:latin typeface="Tahoma"/>
                <a:cs typeface="Tahoma"/>
              </a:rPr>
              <a:t>and</a:t>
            </a:r>
            <a:r>
              <a:rPr sz="195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55" dirty="0">
                <a:solidFill>
                  <a:srgbClr val="2E4E4E"/>
                </a:solidFill>
                <a:latin typeface="Tahoma"/>
                <a:cs typeface="Tahoma"/>
              </a:rPr>
              <a:t>suitable</a:t>
            </a:r>
            <a:r>
              <a:rPr sz="195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for</a:t>
            </a:r>
            <a:r>
              <a:rPr sz="195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65" dirty="0">
                <a:solidFill>
                  <a:srgbClr val="2E4E4E"/>
                </a:solidFill>
                <a:latin typeface="Tahoma"/>
                <a:cs typeface="Tahoma"/>
              </a:rPr>
              <a:t>real-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world</a:t>
            </a:r>
            <a:r>
              <a:rPr sz="1950" spc="-2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65" dirty="0">
                <a:solidFill>
                  <a:srgbClr val="2E4E4E"/>
                </a:solidFill>
                <a:latin typeface="Tahoma"/>
                <a:cs typeface="Tahoma"/>
              </a:rPr>
              <a:t>sentiment</a:t>
            </a:r>
            <a:r>
              <a:rPr sz="1950" spc="-2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2E4E4E"/>
                </a:solidFill>
                <a:latin typeface="Tahoma"/>
                <a:cs typeface="Tahoma"/>
              </a:rPr>
              <a:t>analysis scenarios.</a:t>
            </a:r>
            <a:endParaRPr sz="1950" dirty="0">
              <a:latin typeface="Tahoma"/>
              <a:cs typeface="Tahoma"/>
            </a:endParaRPr>
          </a:p>
          <a:p>
            <a:pPr marL="12700">
              <a:lnSpc>
                <a:spcPts val="2310"/>
              </a:lnSpc>
              <a:spcBef>
                <a:spcPts val="2145"/>
              </a:spcBef>
            </a:pPr>
            <a:r>
              <a:rPr sz="1950" spc="-10" dirty="0">
                <a:solidFill>
                  <a:srgbClr val="2E4E4E"/>
                </a:solidFill>
                <a:latin typeface="Tahoma"/>
                <a:cs typeface="Tahoma"/>
              </a:rPr>
              <a:t>Reference:</a:t>
            </a:r>
            <a:endParaRPr sz="1950" dirty="0">
              <a:latin typeface="Tahoma"/>
              <a:cs typeface="Tahoma"/>
            </a:endParaRPr>
          </a:p>
          <a:p>
            <a:pPr marL="435609" marR="82550">
              <a:lnSpc>
                <a:spcPts val="2280"/>
              </a:lnSpc>
              <a:spcBef>
                <a:spcPts val="95"/>
              </a:spcBef>
            </a:pPr>
            <a:r>
              <a:rPr sz="1950" spc="-10" dirty="0">
                <a:solidFill>
                  <a:srgbClr val="2E4E4E"/>
                </a:solidFill>
                <a:latin typeface="Tahoma"/>
                <a:cs typeface="Tahoma"/>
              </a:rPr>
              <a:t>Loria,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-85" dirty="0">
                <a:solidFill>
                  <a:srgbClr val="2E4E4E"/>
                </a:solidFill>
                <a:latin typeface="Tahoma"/>
                <a:cs typeface="Tahoma"/>
              </a:rPr>
              <a:t>S.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 (2020). TextBlob </a:t>
            </a:r>
            <a:r>
              <a:rPr sz="1950" spc="35" dirty="0">
                <a:solidFill>
                  <a:srgbClr val="2E4E4E"/>
                </a:solidFill>
                <a:latin typeface="Tahoma"/>
                <a:cs typeface="Tahoma"/>
              </a:rPr>
              <a:t>Documentation. </a:t>
            </a:r>
            <a:r>
              <a:rPr sz="1950" spc="80" dirty="0">
                <a:solidFill>
                  <a:srgbClr val="2E4E4E"/>
                </a:solidFill>
                <a:latin typeface="Tahoma"/>
                <a:cs typeface="Tahoma"/>
              </a:rPr>
              <a:t>Microsoft</a:t>
            </a:r>
            <a:r>
              <a:rPr sz="1950" spc="-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Azure (2025). </a:t>
            </a:r>
            <a:r>
              <a:rPr sz="1950" spc="55" dirty="0">
                <a:solidFill>
                  <a:srgbClr val="2E4E4E"/>
                </a:solidFill>
                <a:latin typeface="Tahoma"/>
                <a:cs typeface="Tahoma"/>
              </a:rPr>
              <a:t>Blob</a:t>
            </a:r>
            <a:r>
              <a:rPr sz="1950" spc="-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Storage, </a:t>
            </a:r>
            <a:r>
              <a:rPr sz="1950" spc="-20" dirty="0">
                <a:solidFill>
                  <a:srgbClr val="2E4E4E"/>
                </a:solidFill>
                <a:latin typeface="Tahoma"/>
                <a:cs typeface="Tahoma"/>
              </a:rPr>
              <a:t>Data </a:t>
            </a:r>
            <a:r>
              <a:rPr sz="1950" spc="60" dirty="0">
                <a:solidFill>
                  <a:srgbClr val="2E4E4E"/>
                </a:solidFill>
                <a:latin typeface="Tahoma"/>
                <a:cs typeface="Tahoma"/>
              </a:rPr>
              <a:t>Factory</a:t>
            </a:r>
            <a:r>
              <a:rPr sz="1950" spc="-7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114" dirty="0">
                <a:solidFill>
                  <a:srgbClr val="2E4E4E"/>
                </a:solidFill>
                <a:latin typeface="Tahoma"/>
                <a:cs typeface="Tahoma"/>
              </a:rPr>
              <a:t>&amp;</a:t>
            </a:r>
            <a:r>
              <a:rPr sz="1950" spc="-7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80" dirty="0">
                <a:solidFill>
                  <a:srgbClr val="2E4E4E"/>
                </a:solidFill>
                <a:latin typeface="Tahoma"/>
                <a:cs typeface="Tahoma"/>
              </a:rPr>
              <a:t>SQL</a:t>
            </a:r>
            <a:r>
              <a:rPr sz="1950" spc="-7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DB</a:t>
            </a:r>
            <a:r>
              <a:rPr sz="1950" spc="-7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-20" dirty="0">
                <a:solidFill>
                  <a:srgbClr val="2E4E4E"/>
                </a:solidFill>
                <a:latin typeface="Tahoma"/>
                <a:cs typeface="Tahoma"/>
              </a:rPr>
              <a:t>Docs.</a:t>
            </a:r>
            <a:endParaRPr sz="1950" dirty="0">
              <a:latin typeface="Tahoma"/>
              <a:cs typeface="Tahoma"/>
            </a:endParaRPr>
          </a:p>
          <a:p>
            <a:pPr marL="435609">
              <a:lnSpc>
                <a:spcPts val="2180"/>
              </a:lnSpc>
            </a:pP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Hacker</a:t>
            </a:r>
            <a:r>
              <a:rPr sz="1950" spc="1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News</a:t>
            </a:r>
            <a:r>
              <a:rPr sz="1950" spc="114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(2025).</a:t>
            </a:r>
            <a:r>
              <a:rPr sz="1950" spc="114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News</a:t>
            </a:r>
            <a:r>
              <a:rPr sz="1950" spc="114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35" dirty="0">
                <a:solidFill>
                  <a:srgbClr val="2E4E4E"/>
                </a:solidFill>
                <a:latin typeface="Tahoma"/>
                <a:cs typeface="Tahoma"/>
              </a:rPr>
              <a:t>Headlines</a:t>
            </a:r>
            <a:endParaRPr sz="1950" dirty="0">
              <a:latin typeface="Tahoma"/>
              <a:cs typeface="Tahoma"/>
            </a:endParaRPr>
          </a:p>
          <a:p>
            <a:pPr marL="435609">
              <a:lnSpc>
                <a:spcPts val="2280"/>
              </a:lnSpc>
            </a:pPr>
            <a:r>
              <a:rPr sz="1950" spc="-10" dirty="0">
                <a:solidFill>
                  <a:srgbClr val="2E4E4E"/>
                </a:solidFill>
                <a:latin typeface="Tahoma"/>
                <a:cs typeface="Tahoma"/>
              </a:rPr>
              <a:t>Source.</a:t>
            </a:r>
            <a:endParaRPr sz="1950" dirty="0">
              <a:latin typeface="Tahoma"/>
              <a:cs typeface="Tahoma"/>
            </a:endParaRPr>
          </a:p>
          <a:p>
            <a:pPr marL="435609" marR="793115">
              <a:lnSpc>
                <a:spcPts val="2280"/>
              </a:lnSpc>
              <a:spcBef>
                <a:spcPts val="95"/>
              </a:spcBef>
            </a:pP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McKinney,</a:t>
            </a:r>
            <a:r>
              <a:rPr sz="195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-120" dirty="0">
                <a:solidFill>
                  <a:srgbClr val="2E4E4E"/>
                </a:solidFill>
                <a:latin typeface="Tahoma"/>
                <a:cs typeface="Tahoma"/>
              </a:rPr>
              <a:t>W.</a:t>
            </a:r>
            <a:r>
              <a:rPr sz="195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-55" dirty="0">
                <a:solidFill>
                  <a:srgbClr val="2E4E4E"/>
                </a:solidFill>
                <a:latin typeface="Tahoma"/>
                <a:cs typeface="Tahoma"/>
              </a:rPr>
              <a:t>(2018).</a:t>
            </a:r>
            <a:r>
              <a:rPr sz="195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65" dirty="0">
                <a:solidFill>
                  <a:srgbClr val="2E4E4E"/>
                </a:solidFill>
                <a:latin typeface="Tahoma"/>
                <a:cs typeface="Tahoma"/>
              </a:rPr>
              <a:t>Python</a:t>
            </a:r>
            <a:r>
              <a:rPr sz="1950" spc="-3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for</a:t>
            </a:r>
            <a:r>
              <a:rPr sz="1950" spc="-3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-20" dirty="0">
                <a:solidFill>
                  <a:srgbClr val="2E4E4E"/>
                </a:solidFill>
                <a:latin typeface="Tahoma"/>
                <a:cs typeface="Tahoma"/>
              </a:rPr>
              <a:t>Data </a:t>
            </a:r>
            <a:r>
              <a:rPr sz="1950" spc="-10" dirty="0">
                <a:solidFill>
                  <a:srgbClr val="2E4E4E"/>
                </a:solidFill>
                <a:latin typeface="Tahoma"/>
                <a:cs typeface="Tahoma"/>
              </a:rPr>
              <a:t>Analysis.</a:t>
            </a:r>
            <a:endParaRPr sz="1950" dirty="0">
              <a:latin typeface="Tahoma"/>
              <a:cs typeface="Tahoma"/>
            </a:endParaRPr>
          </a:p>
          <a:p>
            <a:pPr marL="435609">
              <a:lnSpc>
                <a:spcPts val="2210"/>
              </a:lnSpc>
            </a:pPr>
            <a:r>
              <a:rPr sz="1950" spc="80" dirty="0">
                <a:solidFill>
                  <a:srgbClr val="2E4E4E"/>
                </a:solidFill>
                <a:latin typeface="Tahoma"/>
                <a:cs typeface="Tahoma"/>
              </a:rPr>
              <a:t>Microsoft</a:t>
            </a:r>
            <a:r>
              <a:rPr sz="1950" spc="-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(2025).</a:t>
            </a:r>
            <a:r>
              <a:rPr sz="1950" spc="-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2E4E4E"/>
                </a:solidFill>
                <a:latin typeface="Tahoma"/>
                <a:cs typeface="Tahoma"/>
              </a:rPr>
              <a:t>Power</a:t>
            </a:r>
            <a:r>
              <a:rPr sz="1950" spc="-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-135" dirty="0">
                <a:solidFill>
                  <a:srgbClr val="2E4E4E"/>
                </a:solidFill>
                <a:latin typeface="Tahoma"/>
                <a:cs typeface="Tahoma"/>
              </a:rPr>
              <a:t>BI</a:t>
            </a:r>
            <a:r>
              <a:rPr sz="1950" spc="-10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35" dirty="0">
                <a:solidFill>
                  <a:srgbClr val="2E4E4E"/>
                </a:solidFill>
                <a:latin typeface="Tahoma"/>
                <a:cs typeface="Tahoma"/>
              </a:rPr>
              <a:t>Documentation.</a:t>
            </a:r>
            <a:endParaRPr sz="1950" dirty="0">
              <a:latin typeface="Tahoma"/>
              <a:cs typeface="Tahoma"/>
            </a:endParaRPr>
          </a:p>
          <a:p>
            <a:pPr marL="12700" marR="15240">
              <a:lnSpc>
                <a:spcPts val="2280"/>
              </a:lnSpc>
              <a:spcBef>
                <a:spcPts val="2340"/>
              </a:spcBef>
            </a:pPr>
            <a:r>
              <a:rPr sz="1950" spc="80" dirty="0">
                <a:solidFill>
                  <a:srgbClr val="2E4E4E"/>
                </a:solidFill>
                <a:latin typeface="Tahoma"/>
                <a:cs typeface="Tahoma"/>
              </a:rPr>
              <a:t>Github</a:t>
            </a:r>
            <a:r>
              <a:rPr sz="1950" spc="-85" dirty="0">
                <a:solidFill>
                  <a:srgbClr val="2E4E4E"/>
                </a:solidFill>
                <a:latin typeface="Tahoma"/>
                <a:cs typeface="Tahoma"/>
              </a:rPr>
              <a:t> </a:t>
            </a:r>
            <a:r>
              <a:rPr sz="1950" spc="-20" dirty="0">
                <a:solidFill>
                  <a:srgbClr val="2E4E4E"/>
                </a:solidFill>
                <a:latin typeface="Tahoma"/>
                <a:cs typeface="Tahoma"/>
              </a:rPr>
              <a:t>Link: </a:t>
            </a:r>
            <a:endParaRPr lang="en-US" sz="1950" spc="-10" dirty="0">
              <a:solidFill>
                <a:srgbClr val="2E4E4E"/>
              </a:solidFill>
              <a:latin typeface="Tahoma"/>
              <a:cs typeface="Tahoma"/>
            </a:endParaRPr>
          </a:p>
          <a:p>
            <a:pPr marL="12700" marR="15240">
              <a:lnSpc>
                <a:spcPts val="2280"/>
              </a:lnSpc>
              <a:spcBef>
                <a:spcPts val="2340"/>
              </a:spcBef>
            </a:pPr>
            <a:r>
              <a:rPr lang="en-CA" sz="1950" dirty="0">
                <a:latin typeface="Tahoma"/>
                <a:cs typeface="Tahoma"/>
                <a:hlinkClick r:id="rId8"/>
              </a:rPr>
              <a:t>https://github.com/chandresh2508/Sentiment_Analysis</a:t>
            </a:r>
            <a:endParaRPr sz="195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97498" y="579751"/>
            <a:ext cx="4742815" cy="1116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150" spc="125" dirty="0">
                <a:solidFill>
                  <a:srgbClr val="FFFFFF"/>
                </a:solidFill>
                <a:latin typeface="Tahoma"/>
                <a:cs typeface="Tahoma"/>
              </a:rPr>
              <a:t>Coding</a:t>
            </a:r>
            <a:r>
              <a:rPr sz="7150" spc="-7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7150" spc="70" dirty="0">
                <a:solidFill>
                  <a:srgbClr val="FFFFFF"/>
                </a:solidFill>
                <a:latin typeface="Tahoma"/>
                <a:cs typeface="Tahoma"/>
              </a:rPr>
              <a:t>part</a:t>
            </a:r>
            <a:endParaRPr sz="7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80461" y="3829438"/>
            <a:ext cx="7727315" cy="200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0" spc="-280" dirty="0"/>
              <a:t>Thank</a:t>
            </a:r>
            <a:r>
              <a:rPr sz="13000" spc="-1400" dirty="0"/>
              <a:t> </a:t>
            </a:r>
            <a:r>
              <a:rPr sz="13000" spc="-885" dirty="0"/>
              <a:t>y</a:t>
            </a:r>
            <a:r>
              <a:rPr sz="13000" spc="-345" dirty="0"/>
              <a:t>o</a:t>
            </a:r>
            <a:r>
              <a:rPr sz="13000" spc="-365" dirty="0"/>
              <a:t>u</a:t>
            </a:r>
            <a:r>
              <a:rPr sz="13000" spc="25" dirty="0"/>
              <a:t>!</a:t>
            </a:r>
            <a:endParaRPr sz="1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E4E4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654</Words>
  <Application>Microsoft Office PowerPoint</Application>
  <PresentationFormat>Custom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Tahoma</vt:lpstr>
      <vt:lpstr>Trebuchet MS</vt:lpstr>
      <vt:lpstr>Office Theme</vt:lpstr>
      <vt:lpstr>PowerPoint Presentation</vt:lpstr>
      <vt:lpstr>OVERVIEW</vt:lpstr>
      <vt:lpstr>BLOB STORAGE</vt:lpstr>
      <vt:lpstr>ADF PIPELINE</vt:lpstr>
      <vt:lpstr>SOURCE DATASET</vt:lpstr>
      <vt:lpstr>SINK DATASET</vt:lpstr>
      <vt:lpstr>MAPPING</vt:lpstr>
      <vt:lpstr>EXECUTION SUCCESS</vt:lpstr>
      <vt:lpstr>SQL VALIDATION</vt:lpstr>
      <vt:lpstr>POWER BI</vt:lpstr>
      <vt:lpstr>VISUALS</vt:lpstr>
      <vt:lpstr>FINAL TABLE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End-to-End Sentiment Analysis</dc:title>
  <dc:creator>Deep Pardeep</dc:creator>
  <cp:keywords>DAG5Pr38tmg,BAF-nJnWP9I,0</cp:keywords>
  <cp:lastModifiedBy>Chandresh Atulbhai Patel</cp:lastModifiedBy>
  <cp:revision>1</cp:revision>
  <dcterms:created xsi:type="dcterms:W3CDTF">2025-11-25T03:16:59Z</dcterms:created>
  <dcterms:modified xsi:type="dcterms:W3CDTF">2025-11-25T03:44:36Z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2025-11-20T00:00:00Z</vt:filetime>
  </property>
  <property fmtid="{D5CDD505-2E9C-101B-9397-08002B2CF9AE}" pid="3" name="Creator">
    <vt:lpwstr>Canva</vt:lpwstr>
  </property>
  <property fmtid="{D5CDD505-2E9C-101B-9397-08002B2CF9AE}" pid="4" name="LastSaved">
    <vt:filetime>2025-11-25T00:00:00Z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